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4" Type="http://schemas.openxmlformats.org/officeDocument/2006/relationships/presProps" Target="presProps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15" Type="http://schemas.openxmlformats.org/officeDocument/2006/relationships/tableStyles" Target="tableStyles.xml" /><Relationship Id="rId13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Relationship Id="rId3" Type="http://schemas.openxmlformats.org/officeDocument/2006/relationships/image" Target="media/image5.svg" /><Relationship Id="rId4" Type="http://schemas.openxmlformats.org/officeDocument/2006/relationships/image" Target="media/image6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Relationship Id="rId5" Type="http://schemas.openxmlformats.org/officeDocument/2006/relationships/image" Target="media/image11.jpg" /><Relationship Id="rId3" Type="http://schemas.openxmlformats.org/officeDocument/2006/relationships/image" Target="media/image9.svg" /><Relationship Id="rId2" Type="http://schemas.openxmlformats.org/officeDocument/2006/relationships/image" Target="media/image8.svg" /><Relationship Id="rId4" Type="http://schemas.openxmlformats.org/officeDocument/2006/relationships/image" Target="media/image10.jpg" /><Relationship Id="rId6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2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Relationship Id="rId2" Type="http://schemas.openxmlformats.org/officeDocument/2006/relationships/image" Target="media/image14.svg" /><Relationship Id="rId3" Type="http://schemas.openxmlformats.org/officeDocument/2006/relationships/image" Target="media/image15.png" /><Relationship Id="rId4" Type="http://schemas.openxmlformats.org/officeDocument/2006/relationships/image" Target="media/image16.png" /><Relationship Id="rId5" Type="http://schemas.openxmlformats.org/officeDocument/2006/relationships/image" Target="media/image2.sv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6" Type="http://schemas.openxmlformats.org/officeDocument/2006/relationships/image" Target="media/image2.svg" /><Relationship Id="rId3" Type="http://schemas.openxmlformats.org/officeDocument/2006/relationships/image" Target="media/image18.svg" /><Relationship Id="rId4" Type="http://schemas.openxmlformats.org/officeDocument/2006/relationships/image" Target="media/image19.svg" /><Relationship Id="rId5" Type="http://schemas.openxmlformats.org/officeDocument/2006/relationships/image" Target="media/image2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'1280px', height: '720px', padding: 0, position: 'relative', overflow: 'hidden', background: '#16181D' }}&gt;&#10;    {/* 全幅底图 + 渐变蒙版：白字骑左 */}&#10;    &lt;Image src=&quot;assets/cover_garage.png&quot; style={{ position: 'absolute', top: 0, left: 0, width: '1280px', height: '720px', objectFit: 'cover' }} /&gt;&#10;    &lt;Box style={{ position: 'absolute', top: 0, left: 0, width: '1280px', height: '720px', background: 'linear-gradient(105deg, rgba(8,12,24,0.82) 0%, rgba(8,12,24,0.48) 55%, rgba(8,12,24,0.12) 100%)' }} /&gt;&#10;&#10;    &lt;Box style={{ position: 'relative', zIndex: 1, height: '720px', padding: '76px 64px 56px', flexDirection: 'column' }}&gt;&#10;        {/* 赛事标识 */}&#10;        &lt;Box style={{ flexDirection: 'row', alignItems: 'center', gap: '12px' }}&gt;&#10;            &lt;Box style={{ background: 'rgba(245,166,35,0.16)', border: '1px solid rgba(245,166,35,0.55)', borderRadius: '999px', padding: '7px 16px' }}&gt;&#10;                &lt;Text style={{ fontSize: 14, color: '#F5A623', fontWeight: 600, letterSpacing: 1 }}&gt;完美金鹰 · 假日商圈 AI 大赛&lt;/Text&gt;&#10;            &lt;/Box&gt;&#10;            &lt;Box style={{ background: 'rgba(255,255,255,0.10)', border: '1px solid rgba(255,255,255,0.32)', borderRadius: '999px', padding: '7px 16px' }}&gt;&#10;                &lt;Text style={{ fontSize: 14, color: '#FFFFFF', fontWeight: 500 }}&gt;赛道二 · 商圈服务与用户体验&lt;/Text&gt;&#10;            &lt;/Box&gt;&#10;        &lt;/Box&gt;&#10;&#10;        {/* 主标题区 */}&#10;        &lt;Text style={{ fontSize: 76, fontWeight: 'bold', color: '#FFFFFF', lineHeight: 1.1, marginTop: '44px', fontFamily: '&quot;Inter&quot;, &quot;Noto Sans SC&quot;, sans-serif', letterSpacing: 4 }}&gt;车记得&lt;/Text&gt;&#10;        &lt;Text style={{ fontSize: 26, fontWeight: 600, color: 'rgba(255,255,255,0.94)', lineHeight: 1.45, marginTop: '16px' }}&gt;给完美金鹰·假日商圈的停车系统，补一层「决策服务」&lt;/Text&gt;&#10;&#10;        &lt;Box style={{ width: '56px', height: '4px', background: '#F5A623', borderRadius: '2px', marginTop: '30px' }} /&gt;&#10;        &lt;Text style={{ fontSize: 20, color: 'rgba(255,255,255,0.88)', lineHeight: 1.55, marginTop: '18px' }}&gt;让已有的能力真正被用起来，而不是再盖一栋楼。&lt;/Text&gt;&#10;&#10;        {/* 底部信息行 */}&#10;        &lt;Box style={{ marginTop: 'auto', flexDirection: 'row', alignItems: 'flex-end', justifyContent: 'space-between' }}&gt;&#10;            &lt;Text style={{ fontSize: 14, color: 'rgba(255,255,255,0.62)', lineHeight: 1.6 }}&gt;不另起炉灶做第 4 个停车 App，只在「设为终点」前插一步决策&lt;/Text&gt;&#10;            &lt;Text style={{ fontSize: 14, color: 'rgba(255,255,255,0.62)' }}&gt;复赛提交 · 2026-10-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0C18">
                  <a:alpha val="82000"/>
                </a:srgbClr>
              </a:gs>
              <a:gs pos="55000">
                <a:srgbClr val="080C18">
                  <a:alpha val="48000"/>
                </a:srgbClr>
              </a:gs>
              <a:gs pos="100000">
                <a:srgbClr val="080C18">
                  <a:alpha val="12000"/>
                </a:srgbClr>
              </a:gs>
            </a:gsLst>
            <a:lin ang="9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723900"/>
            <a:ext cx="2171700" cy="295275"/>
          </a:xfrm>
          <a:prstGeom prst="roundRect">
            <a:avLst>
              <a:gd name="adj" fmla="val 322258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7905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5A623"/>
                </a:solidFill>
                <a:latin typeface="Microsoft YaHei"/>
                <a:ea typeface="Microsoft YaHei"/>
              </a:rPr>
              <a:t>完美金鹰</a:t>
            </a:r>
            <a:r>
              <a:rPr lang="en-US" sz="1050" b="1" spc="75">
                <a:solidFill>
                  <a:srgbClr val="F5A6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 spc="75">
                <a:solidFill>
                  <a:srgbClr val="F5A623"/>
                </a:solidFill>
                <a:latin typeface="Microsoft YaHei"/>
                <a:ea typeface="Microsoft YaHei"/>
              </a:rPr>
              <a:t>假日商圈</a:t>
            </a:r>
            <a:r>
              <a:rPr lang="en-US" sz="1050" b="1" spc="75">
                <a:solidFill>
                  <a:srgbClr val="F5A6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 b="1" spc="75">
                <a:solidFill>
                  <a:srgbClr val="F5A623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2895600" y="723900"/>
            <a:ext cx="2019300" cy="295275"/>
          </a:xfrm>
          <a:prstGeom prst="roundRect">
            <a:avLst>
              <a:gd name="adj" fmla="val 32225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3048000" y="790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赛道二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商圈服务与用户体验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109728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 spc="300">
                <a:solidFill>
                  <a:srgbClr val="FFFFFF"/>
                </a:solidFill>
                <a:latin typeface="Inter"/>
                <a:ea typeface="Inter"/>
              </a:rPr>
              <a:t>车记得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给完美金鹰·假日商圈的停车系统，补一层「决策服务」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327660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3486150"/>
            <a:ext cx="1097280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让已有的能力真正被用起来，而不是再盖一栋楼。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6067425"/>
            <a:ext cx="38004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不另起炉灶做第</a:t>
            </a:r>
            <a:r>
              <a:rPr lang="en-US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个停车</a:t>
            </a:r>
            <a:r>
              <a:rPr lang="en-US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App</a:t>
            </a:r>
            <a:r>
              <a:rPr lang="zh-CN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，只在「设为终点」前插一步决策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191750" y="6162675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复赛提交</a:t>
            </a:r>
            <a:r>
              <a:rPr lang="en-US" sz="10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· 2026-10-15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1" name="" descr="&lt;Slide style={{ width: '1280px', height: '720px', padding: '20px 64px', flexDirection: 'column', background: '#FFFFFF' }}&gt;&#10;    {/* A 标题块 0–120px */}&#10;    &lt;Box style={{ height: '100px', flexDirection: 'column', justifyContent: 'center', gap: '6px' }}&gt;&#10;        &lt;Text style={{ fontSize: 13, fontWeight: 600, color: '#2456E6', letterSpacing: 2 }}&gt;真实问题 · 值得做吗&lt;/Text&gt;&#10;        &lt;Text style={{ fontSize: 30, fontWeight: 'bold', color: '#16181D', lineHeight: 1.25 }}&gt;地下车库里，用户要做三个没有依据的决策&lt;/Text&gt;&#10;    &lt;/Box&gt;&#10;&#10;    {/* B 内容区 120–660px */}&#10;    &lt;Box style={{ height: '540px', flexDirection: 'row', gap: '24px' }}&gt;&#10;        {/* 左：主色标题栏 */}&#10;        &lt;Box style={{ width: '352px', height: '540px', background: '#2456E6', borderRadius: '16px', padding: '28px', flexDirection: 'column', justifyContent: 'space-between', position: 'relative', overflow: 'hidden' }}&gt;&#10;            &lt;Box style={{ position: 'absolute', right: '0px', bottom: '0px' }}&gt;&#10;                &lt;FAIcon name='car' style={{ fill: 'rgba(255,255,255,0.08)', width: '150px', height: '150px' }} /&gt;&#10;            &lt;/Box&gt;&#10;            &lt;Box style={{ flexDirection: 'column' }}&gt;&#10;                &lt;Text style={{ fontSize: 52, fontWeight: 'bold', color: 'rgba(255,255,255,0.35)', lineHeight: 1, fontFamily: '&quot;Inter&quot;, &quot;Noto Sans SC&quot;, sans-serif' }}&gt;02&lt;/Text&gt;&#10;                &lt;Box style={{ flexDirection: 'row', alignItems: 'flex-end', gap: '10px', marginTop: '20px' }}&gt;&#10;                    &lt;Text style={{ fontSize: 92, fontWeight: 'bold', color: '#FFFFFF', lineHeight: 0.9, fontFamily: '&quot;Inter&quot;, &quot;Noto Sans SC&quot;, sans-serif' }}&gt;3&lt;/Text&gt;&#10;                    &lt;Box style={{ flexDirection: 'column', paddingBottom: '6px' }}&gt;&#10;                        &lt;Text style={{ fontSize: 20, fontWeight: 600, color: '#FFFFFF', lineHeight: 1.3 }}&gt;个没有依据的决策&lt;/Text&gt;&#10;                        &lt;Text style={{ fontSize: 13, color: 'rgba(255,255,255,0.72)', lineHeight: 1.5, marginTop: '4px' }}&gt;停哪层 · 走哪个梯 · 哪个桩空&lt;/Text&gt;&#10;                    &lt;/Box&gt;&#10;                &lt;/Box&gt;&#10;            &lt;/Box&gt;&#10;            &lt;Box style={{ flexDirection: 'column' }}&gt;&#10;                &lt;Box style={{ width: '32px', height: '2px', background: 'rgba(255,255,255,0.35)' }} /&gt;&#10;                &lt;Text style={{ fontSize: 12, color: 'rgba(255,255,255,0.6)', letterSpacing: 2, marginTop: '16px' }}&gt;共性&lt;/Text&gt;&#10;                &lt;Text style={{ fontSize: 16, color: 'rgba(255,255,255,0.92)', lineHeight: 1.75, marginTop: '8px' }}&gt;信号差、时间紧——三段判断都集中在地库入口到车位之间，发生在最不该判断的时刻。&lt;/Text&gt;&#10;            &lt;/Box&gt;&#10;            &lt;Box style={{ background: 'rgba(245,166,35,0.12)', border: '1px solid rgba(245,166,35,0.5)', borderRadius: '999px', padding: '9px 16px', alignSelf: 'flex-start' }}&gt;&#10;                &lt;Text style={{ fontSize: 13, fontWeight: 600, color: '#F5A623' }}&gt;真正的痛点不是「找回车难」&lt;/Text&gt;&#10;            &lt;/Box&gt;&#10;        &lt;/Box&gt;&#10;&#10;        {/* 右：三行决策卡 */}&#10;        &lt;Box style={{ flex: 1, height: '540px', flexDirection: 'column', gap: '14px' }}&gt;&#10;            &lt;Box style={{ flex: 1, background: '#F5F7FB', border: '1px solid #E5E8EF', borderRadius: '14px', padding: '16px 20px', flexDirection: 'column', justifyContent: 'center', gap: '10px' }}&gt;&#10;                &lt;Box style={{ flexDirection: 'row', alignItems: 'center', gap: '14px' }}&gt;&#10;                    &lt;Box style={{ width: '46px', height: '46px', borderRadius: '12px', background: 'rgba(36,86,230,0.08)', justifyContent: 'center', alignItems: 'center' }}&gt;&#10;                        &lt;FAIcon name='car' style={{ fill: '#2456E6', width: '24px', height: '24px' }} /&gt;&#10;                    &lt;/Box&gt;&#10;                    &lt;Text style={{ fontSize: 19, fontWeight: 'bold', color: '#16181D' }}&gt;停哪个车位&lt;/Text&gt;&#10;                    &lt;Box style={{ marginLeft: 'auto', background: 'rgba(245,166,35,0.12)', borderRadius: '999px', padding: '4px 12px' }}&gt;&#10;                        &lt;Text style={{ fontSize: 12, fontWeight: 600, color: '#16181D' }}&gt;只能自己算&lt;/Text&gt;&#10;                    &lt;/Box&gt;&#10;                &lt;/Box&gt;&#10;                &lt;Text style={{ fontSize: 14, color: '#5C6470', lineHeight: 1.5 }}&gt;现在只能自己切楼层、看电梯、在心里默默算距离&lt;/Text&gt;&#10;                &lt;Box style={{ background: '#FFFFFF', border: '1px solid #E5E8EF', borderRadius: '8px', padding: '9px 14px' }}&gt;&#10;                    &lt;Text style={{ fontSize: 14, fontWeight: 600, color: '#2456E6' }}&gt;→ 车位空着，但不是「好用」的车位&lt;/Text&gt;&#10;                &lt;/Box&gt;&#10;            &lt;/Box&gt;&#10;&#10;            &lt;Box style={{ flex: 1, background: '#F5F7FB', border: '1px solid #E5E8EF', borderRadius: '14px', padding: '16px 20px', flexDirection: 'column', justifyContent: 'center', gap: '10px' }}&gt;&#10;                &lt;Box style={{ flexDirection: 'row', alignItems: 'center', gap: '14px' }}&gt;&#10;                    &lt;Box style={{ width: '46px', height: '46px', borderRadius: '12px', background: 'rgba(36,86,230,0.08)', justifyContent: 'center', alignItems: 'center' }}&gt;&#10;                        &lt;FAIcon name='building' style={{ fill: '#2456E6', width: '24px', height: '24px' }} /&gt;&#10;                    &lt;/Box&gt;&#10;                    &lt;Text style={{ fontSize: 19, fontWeight: 'bold', color: '#16181D' }}&gt;走哪个电梯&lt;/Text&gt;&#10;                    &lt;Box style={{ marginLeft: 'auto', background: 'rgba(245,166,35,0.12)', borderRadius: '999px', padding: '4px 12px' }}&gt;&#10;                        &lt;Text style={{ fontSize: 12, fontWeight: 600, color: '#16181D' }}&gt;只能赌&lt;/Text&gt;&#10;                    &lt;/Box&gt;&#10;                &lt;/Box&gt;&#10;                &lt;Text style={{ fontSize: 14, color: '#5C6470', lineHeight: 1.5 }}&gt;现在只能赌哪个近、哪个不挤，没有任何数据可依&lt;/Text&gt;&#10;                &lt;Box style={{ background: '#FFFFFF', border: '1px solid #E5E8EF', borderRadius: '8px', padding: '9px 14px' }}&gt;&#10;                    &lt;Text style={{ fontSize: 14, fontWeight: 600, color: '#2456E6' }}&gt;→ 高峰候梯 5 分钟以上是常态&lt;/Text&gt;&#10;                &lt;/Box&gt;&#10;            &lt;/Box&gt;&#10;&#10;            &lt;Box style={{ flex: 1, background: '#F5F7FB', border: '1px solid #E5E8EF', borderRadius: '14px', padding: '16px 20px', flexDirection: 'column', justifyContent: 'center', gap: '10px' }}&gt;&#10;                &lt;Box style={{ flexDirection: 'row', alignItems: 'center', gap: '14px' }}&gt;&#10;                    &lt;Box style={{ width: '46px', height: '46px', borderRadius: '12px', background: 'rgba(36,86,230,0.08)', justifyContent: 'center', alignItems: 'center' }}&gt;&#10;                        &lt;FAIcon name='bolt' style={{ fill: '#2456E6', width: '24px', height: '24px' }} /&gt;&#10;                    &lt;/Box&gt;&#10;                    &lt;Text style={{ fontSize: 19, fontWeight: 'bold', color: '#16181D' }}&gt;哪个桩空着&lt;/Text&gt;&#10;                    &lt;Box style={{ marginLeft: 'auto', background: 'rgba(245,166,35,0.12)', borderRadius: '999px', padding: '4px 12px' }}&gt;&#10;                        &lt;Text style={{ fontSize: 12, fontWeight: 600, color: '#16181D' }}&gt;只能开到再看&lt;/Text&gt;&#10;                    &lt;/Box&gt;&#10;                &lt;/Box&gt;&#10;                &lt;Text style={{ fontSize: 14, color: '#5C6470', lineHeight: 1.5 }}&gt;现在只能开到某一层才发现被占，然后再找下一层&lt;/Text&gt;&#10;                &lt;Box style={{ background: '#FFFFFF', border: '1px solid #E5E8EF', borderRadius: '8px', padding: '9px 14px' }}&gt;&#10;                    &lt;Text style={{ fontSize: 14, fontWeight: 600, color: '#2456E6' }}&gt;→ 每发现一次「被占」就是一次无效绕行&lt;/Text&gt;&#10;                &lt;/Box&gt;&#10;            &lt;/Box&gt;&#10;        &lt;/Box&gt;&#10;    &lt;/Box&gt;&#10;&#10;    {/* C 页脚条 660–720px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2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真实问题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值得做吗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地下车库里，用户要做三个没有依据的决策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191000" y="1143000"/>
            <a:ext cx="7391400" cy="1628775"/>
          </a:xfrm>
          <a:prstGeom prst="roundRect">
            <a:avLst>
              <a:gd name="adj" fmla="val 8187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4381500" y="13525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456E6">
              <a:alpha val="8000"/>
            </a:srgbClr>
          </a:soli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86275" y="1457325"/>
            <a:ext cx="228600" cy="22860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953000" y="14668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181D"/>
                </a:solidFill>
                <a:latin typeface="Microsoft YaHei"/>
                <a:ea typeface="Microsoft YaHei"/>
              </a:rPr>
              <a:t>停哪个车位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591800" y="1466850"/>
            <a:ext cx="800100" cy="219075"/>
          </a:xfrm>
          <a:prstGeom prst="roundRect">
            <a:avLst>
              <a:gd name="adj" fmla="val 4343478"/>
            </a:avLst>
          </a:prstGeom>
          <a:solidFill>
            <a:srgbClr val="F5A623">
              <a:alpha val="12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706100" y="15049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6181D"/>
                </a:solidFill>
                <a:latin typeface="Microsoft YaHei"/>
                <a:ea typeface="Microsoft YaHei"/>
              </a:rPr>
              <a:t>只能自己算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381500" y="1885950"/>
            <a:ext cx="701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现在只能自己切楼层、看电梯、在心里默默算距离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381500" y="2228850"/>
            <a:ext cx="7010400" cy="33337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514850" y="2314575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车位空着，但不是「好用」的车位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191000" y="2905125"/>
            <a:ext cx="7391400" cy="1619250"/>
          </a:xfrm>
          <a:prstGeom prst="roundRect">
            <a:avLst>
              <a:gd name="adj" fmla="val 8235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4381500" y="31146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456E6">
              <a:alpha val="8000"/>
            </a:srgbClr>
          </a:solidFill>
          <a:ln/>
        </p:spPr>
        <p:txBody>
          <a:bodyPr/>
          <a:p/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86275" y="3219450"/>
            <a:ext cx="228600" cy="228600"/>
          </a:xfrm>
          <a:prstGeom prst="rect">
            <a:avLst/>
          </a:prstGeom>
          <a:ln/>
        </p:spPr>
      </p:pic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953000" y="32289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181D"/>
                </a:solidFill>
                <a:latin typeface="Microsoft YaHei"/>
                <a:ea typeface="Microsoft YaHei"/>
              </a:rPr>
              <a:t>走哪个电梯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0820400" y="3228975"/>
            <a:ext cx="571500" cy="219075"/>
          </a:xfrm>
          <a:prstGeom prst="roundRect">
            <a:avLst>
              <a:gd name="adj" fmla="val 4343478"/>
            </a:avLst>
          </a:prstGeom>
          <a:solidFill>
            <a:srgbClr val="F5A623">
              <a:alpha val="12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934700" y="32670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6181D"/>
                </a:solidFill>
                <a:latin typeface="Microsoft YaHei"/>
                <a:ea typeface="Microsoft YaHei"/>
              </a:rPr>
              <a:t>只能赌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381500" y="3648075"/>
            <a:ext cx="701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现在只能赌哪个近、哪个不挤，没有任何数据可依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381500" y="3990975"/>
            <a:ext cx="7010400" cy="33337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514850" y="407670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高峰候梯</a:t>
            </a: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分钟以上是常态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191000" y="4657725"/>
            <a:ext cx="7391400" cy="1628775"/>
          </a:xfrm>
          <a:prstGeom prst="roundRect">
            <a:avLst>
              <a:gd name="adj" fmla="val 8187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4381500" y="48672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456E6">
              <a:alpha val="8000"/>
            </a:srgbClr>
          </a:solidFill>
          <a:ln/>
        </p:spPr>
        <p:txBody>
          <a:bodyPr/>
          <a:p/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86275" y="4972050"/>
            <a:ext cx="228600" cy="22860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953000" y="49815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181D"/>
                </a:solidFill>
                <a:latin typeface="Microsoft YaHei"/>
                <a:ea typeface="Microsoft YaHei"/>
              </a:rPr>
              <a:t>哪个桩空着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0477500" y="4981575"/>
            <a:ext cx="914400" cy="219075"/>
          </a:xfrm>
          <a:prstGeom prst="roundRect">
            <a:avLst>
              <a:gd name="adj" fmla="val 4343478"/>
            </a:avLst>
          </a:prstGeom>
          <a:solidFill>
            <a:srgbClr val="F5A623">
              <a:alpha val="12000"/>
            </a:srgbClr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591800" y="50196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6181D"/>
                </a:solidFill>
                <a:latin typeface="Microsoft YaHei"/>
                <a:ea typeface="Microsoft YaHei"/>
              </a:rPr>
              <a:t>只能开到再看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381500" y="5400675"/>
            <a:ext cx="701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现在只能开到某一层才发现被占，然后再找下一层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381500" y="5743575"/>
            <a:ext cx="7010400" cy="33337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514850" y="582930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每发现一次「被占」就是一次无效绕行</a:t>
            </a:r>
            <a:endParaRPr/>
          </a:p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02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1143000"/>
            <a:ext cx="3352800" cy="5143500"/>
          </a:xfrm>
          <a:prstGeom prst="roundRect">
            <a:avLst>
              <a:gd name="adj" fmla="val 4545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76300" y="1409700"/>
            <a:ext cx="2819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FFFFF">
                    <a:alpha val="35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76300" y="2200275"/>
            <a:ext cx="457200" cy="95250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690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428750" y="2524125"/>
            <a:ext cx="15716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个没有依据的决策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428750" y="2867025"/>
            <a:ext cx="1571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停哪层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走哪个梯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哪个桩空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76300" y="3752850"/>
            <a:ext cx="304800" cy="190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76300" y="3924300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共性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6300" y="4143375"/>
            <a:ext cx="28194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信号差、时间紧——三段判断都集中在地库入口到车位之间，发生在最不该判断的时刻。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876300" y="5695950"/>
            <a:ext cx="1914525" cy="323850"/>
          </a:xfrm>
          <a:prstGeom prst="roundRect">
            <a:avLst>
              <a:gd name="adj" fmla="val 2938235"/>
            </a:avLst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28700" y="578167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5A623"/>
                </a:solidFill>
                <a:latin typeface="Microsoft YaHei"/>
                <a:ea typeface="Microsoft YaHei"/>
              </a:rPr>
              <a:t>真正的痛点不是「找回车难」</a:t>
            </a:r>
            <a:endParaRPr/>
          </a:p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2533650" y="4857750"/>
            <a:ext cx="1428750" cy="1428750"/>
          </a:xfrm>
          <a:custGeom>
            <a:pathLst>
              <a:path w="150" h="150">
                <a:moveTo>
                  <a:pt x="150" y="134"/>
                </a:moveTo>
                <a:cubicBezTo>
                  <a:pt x="150" y="143"/>
                  <a:pt x="143" y="150"/>
                  <a:pt x="134" y="150"/>
                </a:cubicBezTo>
                <a:lnTo>
                  <a:pt x="0" y="150"/>
                </a:lnTo>
                <a:lnTo>
                  <a:pt x="0" y="0"/>
                </a:lnTo>
                <a:lnTo>
                  <a:pt x="150" y="0"/>
                </a:lnTo>
                <a:close/>
              </a:path>
            </a:pathLst>
          </a:cu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6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真实问题 + 创新空间 · 有人做过吗&lt;/Text&gt;&#10;        &lt;Text style={{ fontSize: 30, fontWeight: 'bold', color: '#16181D', lineHeight: 1.25 }}&gt;连行业标杆也没做这件事&lt;/Text&gt;&#10;    &lt;/Box&gt;&#10;&#10;    {/* B 内容区 */}&#10;    &lt;Box style={{ height: '540px', flexDirection: 'column', gap: '14px' }}&gt;&#10;        {/* 上：三截图证据带 */}&#10;        &lt;Box style={{ flexDirection: 'row', gap: '20px' }}&gt;&#10;            &lt;Box style={{ flex: 1, background: '#FFFFFF', border: '1px solid #E5E8EF', borderRadius: '14px', overflow: 'hidden', flexDirection: 'column' }}&gt;&#10;                &lt;Image src=&quot;assets/research_wxh_ar.jpg&quot; style={{ width: '100%', height: '236px', objectFit: 'cover' }} /&gt;&#10;                &lt;Box style={{ padding: '12px 16px', flexDirection: 'column', gap: '7px' }}&gt;&#10;                    &lt;Text style={{ fontSize: 16, fontWeight: 'bold', color: '#16181D' }}&gt;前海万象汇（华润）&lt;/Text&gt;&#10;                    &lt;Box style={{ flexDirection: 'row', alignItems: 'center', gap: '7px' }}&gt;&#10;                        &lt;FAIcon name='check' style={{ fill: '#0FA958', width: '14px', height: '14px' }} /&gt;&#10;                        &lt;Text style={{ fontSize: 13, color: '#5C6470' }}&gt;AR 寻车导航 · 楼层平面 · 扶梯距离&lt;/Text&gt;&#10;                    &lt;/Box&gt;&#10;                    &lt;Box style={{ flexDirection: 'row', alignItems: 'center', gap: '7px' }}&gt;&#10;                        &lt;FAIcon name='times' style={{ fill: '#F5A623', width: '14px', height: '14px' }} /&gt;&#10;                        &lt;Text style={{ fontSize: 13, fontWeight: 600, color: '#16181D' }}&gt;按目的地选车位&lt;/Text&gt;&#10;                    &lt;/Box&gt;&#10;                &lt;/Box&gt;&#10;            &lt;/Box&gt;&#10;&#10;            &lt;Box style={{ flex: 1, background: '#FFFFFF', border: '1px solid #E5E8EF', borderRadius: '14px', overflow: 'hidden', flexDirection: 'column' }}&gt;&#10;                &lt;Image src=&quot;assets/research_zy_pay.jpg&quot; style={{ width: '100%', height: '236px', objectFit: 'cover' }} /&gt;&#10;                &lt;Box style={{ padding: '12px 16px', flexDirection: 'column', gap: '7px' }}&gt;&#10;                    &lt;Text style={{ fontSize: 16, fontWeight: 'bold', color: '#16181D' }}&gt;前海卓越中心&lt;/Text&gt;&#10;                    &lt;Box style={{ flexDirection: 'row', alignItems: 'center', gap: '7px' }}&gt;&#10;                        &lt;FAIcon name='check' style={{ fill: '#0FA958', width: '14px', height: '14px' }} /&gt;&#10;                        &lt;Text style={{ fontSize: 13, color: '#5C6470' }}&gt;输入车牌缴费——仅此而已&lt;/Text&gt;&#10;                    &lt;/Box&gt;&#10;                    &lt;Box style={{ flexDirection: 'row', alignItems: 'center', gap: '7px' }}&gt;&#10;                        &lt;FAIcon name='times' style={{ fill: '#F5A623', width: '14px', height: '14px' }} /&gt;&#10;                        &lt;Text style={{ fontSize: 13, fontWeight: 600, color: '#16181D' }}&gt;车位地图 · 导航 · 找店 · 充电&lt;/Text&gt;&#10;                    &lt;/Box&gt;&#10;                &lt;/Box&gt;&#10;            &lt;/Box&gt;&#10;&#10;            &lt;Box style={{ flex: 1, background: '#FFFFFF', border: '1px solid #E5E8EF', borderRadius: '14px', overflow: 'hidden', flexDirection: 'column' }}&gt;&#10;                &lt;Image src=&quot;assets/research_wxtd_sim.jpg&quot; style={{ width: '100%', height: '236px', objectFit: 'cover' }} /&gt;&#10;                &lt;Box style={{ padding: '12px 16px', flexDirection: 'column', gap: '7px' }}&gt;&#10;                    &lt;Text style={{ fontSize: 16, fontWeight: 'bold', color: '#16181D' }}&gt;万象天地（华润 · 标杆）&lt;/Text&gt;&#10;                    &lt;Box style={{ flexDirection: 'row', alignItems: 'center', gap: '7px' }}&gt;&#10;                        &lt;FAIcon name='check' style={{ fill: '#0FA958', width: '14px', height: '14px' }} /&gt;&#10;                        &lt;Text style={{ fontSize: 13, color: '#5C6470' }}&gt;实时余位 · 车牌识别 · 店铺/电梯/设施 · 2D 导航&lt;/Text&gt;&#10;                    &lt;/Box&gt;&#10;                    &lt;Box style={{ flexDirection: 'row', alignItems: 'center', gap: '7px' }}&gt;&#10;                        &lt;FAIcon name='times' style={{ fill: '#F5A623', width: '14px', height: '14px' }} /&gt;&#10;                        &lt;Text style={{ fontSize: 13, fontWeight: 600, color: '#16181D' }}&gt;「去目的地，该停哪个车位」&lt;/Text&gt;&#10;                    &lt;/Box&gt;&#10;                &lt;/Box&gt;&#10;            &lt;/Box&gt;&#10;        &lt;/Box&gt;&#10;&#10;        {/* 中：结论条 */}&#10;        &lt;Box style={{ height: '96px', flexDirection: 'row', background: 'rgba(245,166,35,0.10)', borderRadius: '12px' }}&gt;&#10;            &lt;Box style={{ width: '4px', height: '100%', background: '#F5A623', borderRadius: '12px 0 0 12px' }} /&gt;&#10;            &lt;Box style={{ flex: 1, padding: '14px 20px', flexDirection: 'column', justifyContent: 'center', gap: '5px' }}&gt;&#10;                &lt;Text style={{ fontSize: 18, fontWeight: 600, color: '#16181D', lineHeight: 1.45 }}&gt;全行业把智能都花在「找回车」，没人做「停车前选车位」——包括数据完备度最高的万象天地。&lt;/Text&gt;&#10;                &lt;Text style={{ fontSize: 12, color: '#5C6470' }}&gt;基于深圳三场实地调研 · 2026-10-14 · 观察口径&lt;/Text&gt;&#10;            &lt;/Box&gt;&#10;        &lt;/Box&gt;&#10;&#10;        {/* 下：两维判断 */}&#10;        &lt;Box style={{ flexDirection: 'row', gap: '20px', flex: 1 }}&gt;&#10;            &lt;Box style={{ flex: 1, flexDirection: 'row', alignItems: 'center', gap: '14px', background: '#F5F7FB', border: '1px solid #E5E8EF', borderRadius: '12px', padding: '12px 18px' }}&gt;&#10;                &lt;Box style={{ background: '#2456E6', borderRadius: '6px', padding: '4px 10px' }}&gt;&#10;                    &lt;Text style={{ fontSize: 12, fontWeight: 600, color: '#FFFFFF' }}&gt;真实问题&lt;/Text&gt;&#10;                &lt;/Box&gt;&#10;                &lt;Text style={{ fontSize: 14, color: '#16181D', lineHeight: 1.5 }}&gt;三场实地验证：停车前的决策无解，是普遍体验而非个案&lt;/Text&gt;&#10;            &lt;/Box&gt;&#10;            &lt;Box style={{ flex: 1, flexDirection: 'row', alignItems: 'center', gap: '14px', background: '#F5F7FB', border: '1px solid #E5E8EF', borderRadius: '12px', padding: '12px 18px' }}&gt;&#10;                &lt;Box style={{ background: '#F5A623', borderRadius: '6px', padding: '4px 10px' }}&gt;&#10;                    &lt;Text style={{ fontSize: 12, fontWeight: 600, color: '#FFFFFF' }}&gt;创新空间&lt;/Text&gt;&#10;                &lt;/Box&gt;&#10;                &lt;Text style={{ fontSize: 14, color: '#16181D', lineHeight: 1.5 }}&gt;数据最齐的标杆也未做——无先行者，空白即机会&lt;/Text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3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真实问题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创新空间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有人做过吗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连行业标杆也没做这件事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09600" y="1143000"/>
            <a:ext cx="3533775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pic>
        <p:nvPicPr>
          <p:cNvPr id="161" name=""/>
          <p:cNvPicPr>
            <a:picLocks noChangeAspect="1"/>
          </p:cNvPicPr>
          <p:nvPr/>
        </p:nvPicPr>
        <p:blipFill>
          <a:blip r:embed="rId1"/>
          <a:srcRect l="0" t="2291" r="0" b="2291"/>
          <a:stretch>
            <a:fillRect/>
          </a:stretch>
        </p:blipFill>
        <p:spPr>
          <a:xfrm rot="0" flipH="0" flipV="0">
            <a:off x="609600" y="1143000"/>
            <a:ext cx="3533775" cy="2247900"/>
          </a:xfrm>
          <a:custGeom>
            <a:pathLst>
              <a:path w="371" h="236">
                <a:moveTo>
                  <a:pt x="357" y="0"/>
                </a:moveTo>
                <a:cubicBezTo>
                  <a:pt x="365" y="0"/>
                  <a:pt x="371" y="6"/>
                  <a:pt x="371" y="14"/>
                </a:cubicBezTo>
                <a:lnTo>
                  <a:pt x="371" y="236"/>
                </a:lnTo>
                <a:lnTo>
                  <a:pt x="0" y="236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7" y="0"/>
                </a:lnTo>
                <a:close/>
              </a:path>
            </a:pathLst>
          </a:custGeom>
          <a:ln/>
        </p:spPr>
      </p:pic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2000" y="3505200"/>
            <a:ext cx="3228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前海万象汇（华润）</a:t>
            </a:r>
            <a:endParaRPr/>
          </a:p>
        </p:txBody>
      </p:sp>
      <p:pic>
        <p:nvPicPr>
          <p:cNvPr id="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3771900"/>
            <a:ext cx="133350" cy="13335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62025" y="3762375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AR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寻车导航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楼层平面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扶梯距离</a:t>
            </a:r>
            <a:endParaRPr/>
          </a:p>
        </p:txBody>
      </p:sp>
      <p:pic>
        <p:nvPicPr>
          <p:cNvPr id="1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2000" y="3990975"/>
            <a:ext cx="133350" cy="13335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62025" y="39814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6181D"/>
                </a:solidFill>
                <a:latin typeface="Microsoft YaHei"/>
                <a:ea typeface="Microsoft YaHei"/>
              </a:rPr>
              <a:t>按目的地选车位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333875" y="1143000"/>
            <a:ext cx="3524250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Id4"/>
          <a:srcRect l="0" t="2143" r="0" b="2143"/>
          <a:stretch>
            <a:fillRect/>
          </a:stretch>
        </p:blipFill>
        <p:spPr>
          <a:xfrm rot="0" flipH="0" flipV="0">
            <a:off x="4333875" y="1143000"/>
            <a:ext cx="3524250" cy="2247900"/>
          </a:xfrm>
          <a:custGeom>
            <a:pathLst>
              <a:path w="370" h="236">
                <a:moveTo>
                  <a:pt x="356" y="0"/>
                </a:moveTo>
                <a:cubicBezTo>
                  <a:pt x="364" y="0"/>
                  <a:pt x="370" y="6"/>
                  <a:pt x="370" y="14"/>
                </a:cubicBezTo>
                <a:lnTo>
                  <a:pt x="370" y="236"/>
                </a:lnTo>
                <a:lnTo>
                  <a:pt x="0" y="236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486275" y="350520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前海卓越中心</a:t>
            </a:r>
            <a:endParaRPr/>
          </a:p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86275" y="3771900"/>
            <a:ext cx="133350" cy="13335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686300" y="3762375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输入车牌缴费——仅此而已</a:t>
            </a:r>
            <a:endParaRPr/>
          </a:p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86275" y="3990975"/>
            <a:ext cx="133350" cy="13335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686300" y="39814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6181D"/>
                </a:solidFill>
                <a:latin typeface="Microsoft YaHei"/>
                <a:ea typeface="Microsoft YaHei"/>
              </a:rPr>
              <a:t>车位地图</a:t>
            </a:r>
            <a:r>
              <a:rPr lang="en-US" sz="975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16181D"/>
                </a:solidFill>
                <a:latin typeface="Microsoft YaHei"/>
                <a:ea typeface="Microsoft YaHei"/>
              </a:rPr>
              <a:t>导航</a:t>
            </a:r>
            <a:r>
              <a:rPr lang="en-US" sz="975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16181D"/>
                </a:solidFill>
                <a:latin typeface="Microsoft YaHei"/>
                <a:ea typeface="Microsoft YaHei"/>
              </a:rPr>
              <a:t>找店</a:t>
            </a:r>
            <a:r>
              <a:rPr lang="en-US" sz="975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16181D"/>
                </a:solidFill>
                <a:latin typeface="Microsoft YaHei"/>
                <a:ea typeface="Microsoft YaHei"/>
              </a:rPr>
              <a:t>充电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048625" y="1143000"/>
            <a:ext cx="3533775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 r:embed="rId5"/>
          <a:srcRect l="0" t="2272" r="0" b="2272"/>
          <a:stretch>
            <a:fillRect/>
          </a:stretch>
        </p:blipFill>
        <p:spPr>
          <a:xfrm rot="0" flipH="0" flipV="0">
            <a:off x="8048625" y="1143000"/>
            <a:ext cx="3533775" cy="2247900"/>
          </a:xfrm>
          <a:custGeom>
            <a:pathLst>
              <a:path w="371" h="236">
                <a:moveTo>
                  <a:pt x="357" y="0"/>
                </a:moveTo>
                <a:cubicBezTo>
                  <a:pt x="365" y="0"/>
                  <a:pt x="371" y="6"/>
                  <a:pt x="371" y="14"/>
                </a:cubicBezTo>
                <a:lnTo>
                  <a:pt x="371" y="236"/>
                </a:lnTo>
                <a:lnTo>
                  <a:pt x="0" y="236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7" y="0"/>
                </a:lnTo>
                <a:close/>
              </a:path>
            </a:pathLst>
          </a:cu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201025" y="3505200"/>
            <a:ext cx="3228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万象天地（华润</a:t>
            </a: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标杆）</a:t>
            </a:r>
            <a:endParaRPr/>
          </a:p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01025" y="3771900"/>
            <a:ext cx="133350" cy="13335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401050" y="3762375"/>
            <a:ext cx="2600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实时余位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车牌识别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店铺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电梯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设施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2D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导航</a:t>
            </a:r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01025" y="3990975"/>
            <a:ext cx="133350" cy="1333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401050" y="398145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6181D"/>
                </a:solidFill>
                <a:latin typeface="Microsoft YaHei"/>
                <a:ea typeface="Microsoft YaHei"/>
              </a:rPr>
              <a:t>「去目的地，该停哪个车位」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438150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F5A623">
              <a:alpha val="10000"/>
            </a:srgbClr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09600" y="4381500"/>
            <a:ext cx="38100" cy="914400"/>
          </a:xfrm>
          <a:custGeom>
            <a:pathLst>
              <a:path w="4" h="96">
                <a:moveTo>
                  <a:pt x="4" y="0"/>
                </a:moveTo>
                <a:lnTo>
                  <a:pt x="4" y="0"/>
                </a:lnTo>
                <a:lnTo>
                  <a:pt x="4" y="0"/>
                </a:lnTo>
                <a:lnTo>
                  <a:pt x="4" y="96"/>
                </a:lnTo>
                <a:lnTo>
                  <a:pt x="4" y="96"/>
                </a:lnTo>
                <a:lnTo>
                  <a:pt x="4" y="96"/>
                </a:lnTo>
                <a:cubicBezTo>
                  <a:pt x="2" y="96"/>
                  <a:pt x="0" y="94"/>
                  <a:pt x="0" y="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38200" y="4591050"/>
            <a:ext cx="105537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全行业把智能都花在「找回车」，没人做「停车前选车位」——包括数据完备度最高的万象天地。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8200" y="4943475"/>
            <a:ext cx="10553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基于深圳三场实地调研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2026-10-14 ·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观察口径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5429250"/>
            <a:ext cx="5391150" cy="85725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781050" y="57531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76300" y="57912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真实问题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562100" y="5734050"/>
            <a:ext cx="3333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三场实地验证：停车前的决策无解，是普遍体验而非个案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191250" y="5429250"/>
            <a:ext cx="5391150" cy="85725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362700" y="57531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57950" y="57912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创新空间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143750" y="5734050"/>
            <a:ext cx="2962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数据最齐的标杆也未做——无先行者，空白即机会</a:t>
            </a:r>
            <a:endParaRPr/>
          </a:p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03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6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方案创新 · 怎么做&lt;/Text&gt;&#10;        &lt;Text style={{ fontSize: 30, fontWeight: 'bold', color: '#16181D', lineHeight: 1.25 }}&gt;不另起炉灶做第 4 个停车 App，只在「设为终点」前插一步&lt;/Text&gt;&#10;    &lt;/Box&gt;&#10;&#10;    {/* B 内容区 */}&#10;    &lt;Box style={{ height: '540px', flexDirection: 'row', gap: '24px' }}&gt;&#10;        {/* 左 62%：三增量 */}&#10;        &lt;Box style={{ width: '700px', flexDirection: 'column', gap: '12px' }}&gt;&#10;            &lt;Text style={{ fontSize: 18, fontWeight: 600, color: '#16181D' }}&gt;三个增量，全部复用主办方已有能力&lt;/Text&gt;&#10;&#10;            &lt;Box style={{ flex: 1, background: '#FFFFFF', border: '1px solid #E5E8EF', borderRadius: '14px', padding: '14px 20px', flexDirection: 'row', alignItems: 'center', gap: '16px' }}&gt;&#10;                &lt;Box style={{ width: '46px', height: '46px', borderRadius: '12px', background: '#2456E6', justifyContent: 'center', alignItems: 'center' }}&gt;&#10;                    &lt;Text style={{ fontSize: 19, fontWeight: 'bold', color: '#FFFFFF' }}&gt;①&lt;/Text&gt;&#10;                &lt;/Box&gt;&#10;                &lt;Box style={{ flex: 1, flexDirection: 'column', gap: '5px' }}&gt;&#10;                    &lt;Box style={{ flexDirection: 'row', alignItems: 'center' }}&gt;&#10;                        &lt;Text style={{ fontSize: 18, fontWeight: 'bold', color: '#16181D' }}&gt;目的地选车位&lt;/Text&gt;&#10;                        &lt;Box style={{ marginLeft: 'auto', background: 'rgba(15,169,88,0.10)', border: '1px solid rgba(15,169,88,0.35)', borderRadius: '999px', padding: '3px 12px' }}&gt;&#10;                            &lt;Text style={{ fontSize: 12, color: '#0FA958', fontWeight: 600 }}&gt;复用：车位真值 · 地图 · 电梯厅标注&lt;/Text&gt;&#10;                        &lt;/Box&gt;&#10;                    &lt;/Box&gt;&#10;                    &lt;Text style={{ fontSize: 14, color: '#5C6470', lineHeight: 1.5 }}&gt;输入「去哪」→ 综合步行距离 + 楼层 + 电梯口，推荐最近车位&lt;/Text&gt;&#10;                &lt;/Box&gt;&#10;            &lt;/Box&gt;&#10;&#10;            &lt;Box style={{ flex: 1, background: '#FFFFFF', border: '1px solid #E5E8EF', borderRadius: '14px', padding: '14px 20px', flexDirection: 'row', alignItems: 'center', gap: '16px' }}&gt;&#10;                &lt;Box style={{ width: '46px', height: '46px', borderRadius: '12px', background: '#2456E6', justifyContent: 'center', alignItems: 'center' }}&gt;&#10;                    &lt;Text style={{ fontSize: 19, fontWeight: 'bold', color: '#FFFFFF' }}&gt;②&lt;/Text&gt;&#10;                &lt;/Box&gt;&#10;                &lt;Box style={{ flex: 1, flexDirection: 'column', gap: '5px' }}&gt;&#10;                    &lt;Box style={{ flexDirection: 'row', alignItems: 'center' }}&gt;&#10;                        &lt;Text style={{ fontSize: 18, fontWeight: 'bold', color: '#16181D' }}&gt;电梯厅选梯&lt;/Text&gt;&#10;                        &lt;Box style={{ marginLeft: 'auto', background: 'rgba(15,169,88,0.10)', border: '1px solid rgba(15,169,88,0.35)', borderRadius: '999px', padding: '3px 12px' }}&gt;&#10;                            &lt;Text style={{ fontSize: 12, color: '#0FA958', fontWeight: 600 }}&gt;复用：电梯厅位置数据&lt;/Text&gt;&#10;                        &lt;/Box&gt;&#10;                    &lt;/Box&gt;&#10;                    &lt;Text style={{ fontSize: 14, color: '#5C6470', lineHeight: 1.5 }}&gt;把已标注的 1–6 号电梯厅建成多层图上的边，让算法自己选梯&lt;/Text&gt;&#10;                &lt;/Box&gt;&#10;            &lt;/Box&gt;&#10;&#10;            &lt;Box style={{ flex: 1, background: '#FFFFFF', border: '1px solid #E5E8EF', borderRadius: '14px', padding: '14px 20px', flexDirection: 'row', alignItems: 'center', gap: '16px' }}&gt;&#10;                &lt;Box style={{ width: '46px', height: '46px', borderRadius: '12px', background: '#2456E6', justifyContent: 'center', alignItems: 'center' }}&gt;&#10;                    &lt;Text style={{ fontSize: 19, fontWeight: 'bold', color: '#FFFFFF' }}&gt;③&lt;/Text&gt;&#10;                &lt;/Box&gt;&#10;                &lt;Box style={{ flex: 1, flexDirection: 'column', gap: '5px' }}&gt;&#10;                    &lt;Box style={{ flexDirection: 'row', alignItems: 'center' }}&gt;&#10;                        &lt;Text style={{ fontSize: 18, fontWeight: 'bold', color: '#16181D' }}&gt;充电桩导航&lt;/Text&gt;&#10;                        &lt;Box style={{ marginLeft: 'auto', background: 'rgba(15,169,88,0.10)', border: '1px solid rgba(15,169,88,0.35)', borderRadius: '999px', padding: '3px 12px' }}&gt;&#10;                            &lt;Text style={{ fontSize: 12, color: '#0FA958', fontWeight: 600 }}&gt;复用：车位-桩绑定 · 已有导航&lt;/Text&gt;&#10;                        &lt;/Box&gt;&#10;                    &lt;/Box&gt;&#10;                    &lt;Text style={{ fontSize: 14, color: '#5C6470', lineHeight: 1.5 }}&gt;查空闲桩并导航，桩状态三级来源 + 置信度衰减，不伪造状态&lt;/Text&gt;&#10;                &lt;/Box&gt;&#10;            &lt;/Box&gt;&#10;&#10;            &lt;Box style={{ height: '48px', flexDirection: 'row', alignItems: 'center', gap: '12px', background: 'rgba(36,86,230,0.06)', borderRadius: '10px', padding: '0 18px' }}&gt;&#10;                &lt;Box style={{ width: '4px', height: '22px', background: '#2456E6', borderRadius: '2px' }} /&gt;&#10;                &lt;Text style={{ fontSize: 17, fontWeight: 600, color: '#2456E6' }}&gt;最好的改进，是让已有的能力真正被用起来。&lt;/Text&gt;&#10;            &lt;/Box&gt;&#10;        &lt;/Box&gt;&#10;&#10;        {/* 右 38%：边界（不做什么） */}&#10;        &lt;Box style={{ flex: 1, background: '#F5F7FB', border: '1px solid #E5E8EF', borderRadius: '16px', padding: '22px', flexDirection: 'column', gap: '14px' }}&gt;&#10;            &lt;Box style={{ flexDirection: 'row', alignItems: 'center' }}&gt;&#10;                &lt;Text style={{ fontSize: 19, fontWeight: 'bold', color: '#16181D' }}&gt;不做什么&lt;/Text&gt;&#10;                &lt;Text style={{ marginLeft: 'auto', fontSize: 12, color: '#5C6470' }}&gt;边界即说服力&lt;/Text&gt;&#10;            &lt;/Box&gt;&#10;            &lt;Box style={{ height: '1px', background: '#E5E8EF' }} /&gt;&#10;&#10;            &lt;Box style={{ flex: 1, flexDirection: 'row', alignItems: 'flex-start', gap: '10px' }}&gt;&#10;                &lt;FAIcon name='times' style={{ fill: '#F5A623', width: '15px', height: '15px', marginTop: '3px' }} /&gt;&#10;                &lt;Box style={{ flexDirection: 'column', gap: '3px' }}&gt;&#10;                    &lt;Text style={{ fontSize: 15, fontWeight: 600, color: '#16181D' }}&gt;不重建 2D/3D 地图&lt;/Text&gt;&#10;                    &lt;Text style={{ fontSize: 13, color: '#5C6470', lineHeight: 1.45 }}&gt;已有，精度足够&lt;/Text&gt;&#10;                &lt;/Box&gt;&#10;            &lt;/Box&gt;&#10;&#10;            &lt;Box style={{ flex: 1, flexDirection: 'row', alignItems: 'flex-start', gap: '10px' }}&gt;&#10;                &lt;FAIcon name='times' style={{ fill: '#F5A623', width: '15px', height: '15px', marginTop: '3px' }} /&gt;&#10;                &lt;Box style={{ flexDirection: 'column', gap: '3px' }}&gt;&#10;                    &lt;Text style={{ fontSize: 15, fontWeight: 600, color: '#16181D' }}&gt;不重写导航引擎&lt;/Text&gt;&#10;                    &lt;Text style={{ fontSize: 13, color: '#5C6470', lineHeight: 1.45 }}&gt;「设为终点 → 模拟导航」链路直接复用&lt;/Text&gt;&#10;                &lt;/Box&gt;&#10;            &lt;/Box&gt;&#10;&#10;            &lt;Box style={{ flex: 1, flexDirection: 'row', alignItems: 'flex-start', gap: '10px' }}&gt;&#10;                &lt;FAIcon name='times' style={{ fill: '#F5A623', width: '15px', height: '15px', marginTop: '3px' }} /&gt;&#10;                &lt;Box style={{ flexDirection: 'column', gap: '3px' }}&gt;&#10;                    &lt;Text style={{ fontSize: 15, fontWeight: 600, color: '#16181D' }}&gt;不新增硬件&lt;/Text&gt;&#10;                    &lt;Text style={{ fontSize: 13, color: '#5C6470', lineHeight: 1.45 }}&gt;零传感器、零施工&lt;/Text&gt;&#10;                &lt;/Box&gt;&#10;            &lt;/Box&gt;&#10;&#10;            &lt;Box style={{ flex: 1, flexDirection: 'row', alignItems: 'flex-start', gap: '10px' }}&gt;&#10;                &lt;FAIcon name='times' style={{ fill: '#F5A623', width: '15px', height: '15px', marginTop: '3px' }} /&gt;&#10;                &lt;Box style={{ flexDirection: 'column', gap: '3px' }}&gt;&#10;                    &lt;Text style={{ fontSize: 15, fontWeight: 600, color: '#16181D' }}&gt;不另做小程序&lt;/Text&gt;&#10;                    &lt;Text style={{ fontSize: 13, color: '#5C6470', lineHeight: 1.45 }}&gt;云函数挂载到已有小程序&lt;/Text&gt;&#10;                &lt;/Box&gt;&#10;            &lt;/Box&gt;&#10;&#10;            &lt;Box style={{ background: 'rgba(15,169,88,0.10)', border: '1px solid rgba(15,169,88,0.35)', borderRadius: '999px', padding: '8px 16px', alignSelf: 'flex-start' }}&gt;&#10;                &lt;Text style={{ fontSize: 13, fontWeight: 600, color: '#0FA958' }}&gt;零硬件 · 零系统改造&lt;/Text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4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方案创新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怎么做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不另起炉灶做第</a:t>
            </a:r>
            <a:r>
              <a:rPr lang="en-US" sz="225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个停车</a:t>
            </a:r>
            <a:r>
              <a:rPr lang="en-US" sz="225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App</a:t>
            </a: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，只在「设为终点」前插一步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三个增量，全部复用主办方已有能力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1466850"/>
            <a:ext cx="6667500" cy="1343025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800100" y="19240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33450" y="20383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390650" y="18859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目的地选车位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019675" y="1895475"/>
            <a:ext cx="2066925" cy="200025"/>
          </a:xfrm>
          <a:prstGeom prst="roundRect">
            <a:avLst>
              <a:gd name="adj" fmla="val 4757143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133975" y="192405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复用：车位真值</a:t>
            </a:r>
            <a:r>
              <a:rPr lang="en-US" sz="900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地图</a:t>
            </a:r>
            <a:r>
              <a:rPr lang="en-US" sz="900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电梯厅标注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390650" y="21431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输入「去哪」→</a:t>
            </a:r>
            <a:r>
              <a:rPr lang="en-US" sz="1050">
                <a:solidFill>
                  <a:srgbClr val="5C647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综合步行距离</a:t>
            </a:r>
            <a:r>
              <a:rPr lang="en-US" sz="1050">
                <a:solidFill>
                  <a:srgbClr val="5C64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楼层</a:t>
            </a:r>
            <a:r>
              <a:rPr lang="en-US" sz="1050">
                <a:solidFill>
                  <a:srgbClr val="5C64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电梯口，推荐最近车位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2924175"/>
            <a:ext cx="66675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800100" y="3371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33450" y="34861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390650" y="33432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电梯厅选梯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715000" y="3352800"/>
            <a:ext cx="1371600" cy="200025"/>
          </a:xfrm>
          <a:prstGeom prst="roundRect">
            <a:avLst>
              <a:gd name="adj" fmla="val 4757143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829300" y="338137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复用：电梯厅位置数据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390650" y="3600450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把已标注的</a:t>
            </a:r>
            <a:r>
              <a:rPr lang="en-US" sz="1050">
                <a:solidFill>
                  <a:srgbClr val="5C6470"/>
                </a:solidFill>
                <a:latin typeface="Microsoft YaHei"/>
                <a:ea typeface="Microsoft YaHei"/>
              </a:rPr>
              <a:t xml:space="preserve"> 1–6 </a:t>
            </a: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号电梯厅建成多层图上的边，让算法自己选梯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4371975"/>
            <a:ext cx="6667500" cy="1343025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800100" y="48291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33450" y="494347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390650" y="47910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充电桩导航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314950" y="4800600"/>
            <a:ext cx="1771650" cy="200025"/>
          </a:xfrm>
          <a:prstGeom prst="roundRect">
            <a:avLst>
              <a:gd name="adj" fmla="val 4757143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429250" y="4829175"/>
            <a:ext cx="1543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复用：车位</a:t>
            </a:r>
            <a:r>
              <a:rPr lang="en-US" sz="900" b="1">
                <a:solidFill>
                  <a:srgbClr val="0FA958"/>
                </a:solidFill>
                <a:latin typeface="Microsoft YaHei"/>
                <a:ea typeface="Microsoft YaHei"/>
              </a:rPr>
              <a:t>-</a:t>
            </a: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桩绑定</a:t>
            </a:r>
            <a:r>
              <a:rPr lang="en-US" sz="900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已有导航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390650" y="5048250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查空闲桩并导航，桩状态三级来源</a:t>
            </a:r>
            <a:r>
              <a:rPr lang="en-US" sz="1050">
                <a:solidFill>
                  <a:srgbClr val="5C64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5C6470"/>
                </a:solidFill>
                <a:latin typeface="Microsoft YaHei"/>
                <a:ea typeface="Microsoft YaHei"/>
              </a:rPr>
              <a:t>置信度衰减，不伪造状态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5829300"/>
            <a:ext cx="6667500" cy="457200"/>
          </a:xfrm>
          <a:prstGeom prst="roundRect">
            <a:avLst>
              <a:gd name="adj" fmla="val 20833"/>
            </a:avLst>
          </a:prstGeom>
          <a:solidFill>
            <a:srgbClr val="2456E6">
              <a:alpha val="6000"/>
            </a:srgbClr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781050" y="595312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33450" y="59626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456E6"/>
                </a:solidFill>
                <a:latin typeface="Microsoft YaHei"/>
                <a:ea typeface="Microsoft YaHei"/>
              </a:rPr>
              <a:t>最好的改进，是让已有的能力真正被用起来。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7505700" y="1143000"/>
            <a:ext cx="4076700" cy="5143500"/>
          </a:xfrm>
          <a:prstGeom prst="roundRect">
            <a:avLst>
              <a:gd name="adj" fmla="val 3738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715250" y="13525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181D"/>
                </a:solidFill>
                <a:latin typeface="Microsoft YaHei"/>
                <a:ea typeface="Microsoft YaHei"/>
              </a:rPr>
              <a:t>不做什么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687050" y="13906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边界即说服力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715250" y="1704975"/>
            <a:ext cx="3657600" cy="9525"/>
          </a:xfrm>
          <a:prstGeom prst="rect">
            <a:avLst/>
          </a:prstGeom>
          <a:solidFill>
            <a:srgbClr val="E5E8EF"/>
          </a:solidFill>
          <a:ln/>
        </p:spPr>
        <p:txBody>
          <a:bodyPr/>
          <a:p/>
        </p:txBody>
      </p:sp>
      <p:pic>
        <p:nvPicPr>
          <p:cNvPr id="2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0" y="1876425"/>
            <a:ext cx="142875" cy="142875"/>
          </a:xfrm>
          <a:prstGeom prst="rect">
            <a:avLst/>
          </a:prstGeom>
          <a:ln/>
        </p:spPr>
      </p:pic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953375" y="1847850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不重建</a:t>
            </a:r>
            <a:r>
              <a:rPr lang="en-US" sz="1125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2D/3D </a:t>
            </a: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953375" y="204787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已有，精度足够</a:t>
            </a:r>
            <a:endParaRPr/>
          </a:p>
        </p:txBody>
      </p:sp>
      <p:pic>
        <p:nvPicPr>
          <p:cNvPr id="2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0" y="2857500"/>
            <a:ext cx="142875" cy="142875"/>
          </a:xfrm>
          <a:prstGeom prst="rect">
            <a:avLst/>
          </a:prstGeom>
          <a:ln/>
        </p:spPr>
      </p:pic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953375" y="2828925"/>
            <a:ext cx="2181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不重写导航引擎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953375" y="3028950"/>
            <a:ext cx="21812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「设为终点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模拟导航」链路直接复用</a:t>
            </a:r>
            <a:endParaRPr/>
          </a:p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0" y="3838575"/>
            <a:ext cx="142875" cy="142875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953375" y="3810000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不新增硬件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953375" y="4010025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零传感器、零施工</a:t>
            </a:r>
            <a:endParaRPr/>
          </a:p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0" y="4819650"/>
            <a:ext cx="142875" cy="142875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953375" y="4791075"/>
            <a:ext cx="1362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不另做小程序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953375" y="4991100"/>
            <a:ext cx="13620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云函数挂载到已有小程序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715250" y="5772150"/>
            <a:ext cx="1428750" cy="304800"/>
          </a:xfrm>
          <a:prstGeom prst="roundRect">
            <a:avLst>
              <a:gd name="adj" fmla="val 3121875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867650" y="584835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零硬件</a:t>
            </a:r>
            <a:r>
              <a:rPr lang="en-US" sz="975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零系统改造</a:t>
            </a:r>
            <a:endParaRPr/>
          </a:p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04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6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AI 实际应用 · 是装饰吗&lt;/Text&gt;&#10;        &lt;Text style={{ fontSize: 30, fontWeight: 'bold', color: '#16181D', lineHeight: 1.25 }}&gt;AI 用在该用的层，其余刻意不用&lt;/Text&gt;&#10;    &lt;/Box&gt;&#10;&#10;    {/* B 内容区 */}&#10;    &lt;Box style={{ height: '540px', flexDirection: 'column', gap: '16px' }}&gt;&#10;        &lt;Box style={{ flexDirection: 'row', gap: '24px', flex: 1 }}&gt;&#10;            {/* 左：巨型数字锚点 */}&#10;            &lt;Box style={{ width: '420px', background: '#2456E6', borderRadius: '16px', padding: '28px', flexDirection: 'column', justifyContent: 'space-between', position: 'relative', overflow: 'hidden' }}&gt;&#10;                &lt;Box style={{ position: 'absolute', right: '0px', bottom: '0px' }}&gt;&#10;                    &lt;FAIcon name='robot' style={{ fill: 'rgba(255,255,255,0.07)', width: '150px', height: '150px' }} /&gt;&#10;                &lt;/Box&gt;&#10;                &lt;Text style={{ fontSize: 13, fontWeight: 600, color: 'rgba(255,255,255,0.65)', letterSpacing: 3 }}&gt;AI 用点&lt;/Text&gt;&#10;                &lt;Box style={{ flexDirection: 'row', alignItems: 'flex-end', gap: '12px' }}&gt;&#10;                    &lt;Text style={{ fontSize: 96, fontWeight: 'bold', color: '#FFFFFF', lineHeight: 0.9, fontFamily: '&quot;Inter&quot;, &quot;Noto Sans SC&quot;, sans-serif' }}&gt;3&lt;/Text&gt;&#10;                    &lt;Box style={{ flexDirection: 'column', paddingBottom: '8px', gap: '4px' }}&gt;&#10;                        &lt;Text style={{ fontSize: 26, fontWeight: 600, color: '#FFFFFF', lineHeight: 1.2 }}&gt;层&lt;/Text&gt;&#10;                        &lt;Text style={{ fontSize: 13, color: 'rgba(255,255,255,0.72)' }}&gt;入口 · 兜底 · 输出&lt;/Text&gt;&#10;                    &lt;/Box&gt;&#10;                &lt;/Box&gt;&#10;                &lt;Box style={{ flexDirection: 'column', gap: '12px' }}&gt;&#10;                    &lt;Box style={{ width: '32px', height: '2px', background: 'rgba(255,255,255,0.35)' }} /&gt;&#10;                    &lt;Text style={{ fontSize: 15, color: 'rgba(255,255,255,0.90)', lineHeight: 1.7 }}&gt;大模型只出现在这三层；推荐、路径、桩状态这些实时环节，刻意不用。&lt;/Text&gt;&#10;                &lt;/Box&gt;&#10;                &lt;Box style={{ border: '1px solid rgba(255,255,255,0.45)', borderRadius: '999px', padding: '8px 16px', alignSelf: 'flex-start' }}&gt;&#10;                    &lt;Text style={{ fontSize: 13, fontWeight: 600, color: '#FFFFFF' }}&gt;实时决策：确定性算法&lt;/Text&gt;&#10;                &lt;/Box&gt;&#10;            &lt;/Box&gt;&#10;&#10;            {/* 右：三层用点 */}&#10;            &lt;Box style={{ flex: 1, flexDirection: 'column', gap: '12px' }}&gt;&#10;                &lt;Box style={{ flex: 1, background: '#FFFFFF', border: '1px solid #E5E8EF', borderRadius: '12px', padding: '14px 18px', flexDirection: 'row', alignItems: 'center', gap: '16px' }}&gt;&#10;                    &lt;Box style={{ width: '56px', height: '30px', borderRadius: '8px', background: '#F5A623', justifyContent: 'center', alignItems: 'center' }}&gt;&#10;                        &lt;Text style={{ fontSize: 13, fontWeight: 600, color: '#FFFFFF' }}&gt;入口&lt;/Text&gt;&#10;                    &lt;/Box&gt;&#10;                    &lt;Box style={{ flex: 1, flexDirection: 'column', gap: '4px' }}&gt;&#10;                        &lt;Text style={{ fontSize: 17, fontWeight: 'bold', color: '#16181D' }}&gt;LLM 意图解析&lt;/Text&gt;&#10;                        &lt;Text style={{ fontSize: 13, color: '#5C6470', lineHeight: 1.5 }}&gt;「找个离海底捞近、能充电、婴儿车能走的车位」→ 结构化约束 → 交推荐引擎执行&lt;/Text&gt;&#10;                    &lt;/Box&gt;&#10;                &lt;/Box&gt;&#10;&#10;                &lt;Box style={{ flex: 1, background: '#FFFFFF', border: '1px solid #E5E8EF', borderRadius: '12px', padding: '14px 18px', flexDirection: 'row', alignItems: 'center', gap: '16px' }}&gt;&#10;                    &lt;Box style={{ width: '56px', height: '30px', borderRadius: '8px', background: '#F5A623', justifyContent: 'center', alignItems: 'center' }}&gt;&#10;                        &lt;Text style={{ fontSize: 13, fontWeight: 600, color: '#FFFFFF' }}&gt;兜底&lt;/Text&gt;&#10;                    &lt;/Box&gt;&#10;                    &lt;Box style={{ flex: 1, flexDirection: 'column', gap: '4px' }}&gt;&#10;                        &lt;Text style={{ fontSize: 17, fontWeight: 'bold', color: '#16181D' }}&gt;多模态 OCR&lt;/Text&gt;&#10;                        &lt;Text style={{ fontSize: 13, color: '#5C6470', lineHeight: 1.5 }}&gt;拍停车小票 / 订单照片 → 结构化入库 → 作为车位绑定的兜底通道&lt;/Text&gt;&#10;                    &lt;/Box&gt;&#10;                &lt;/Box&gt;&#10;&#10;                &lt;Box style={{ flex: 1, background: '#FFFFFF', border: '1px solid #E5E8EF', borderRadius: '12px', padding: '14px 18px', flexDirection: 'row', alignItems: 'center', gap: '16px' }}&gt;&#10;                    &lt;Box style={{ width: '56px', height: '30px', borderRadius: '8px', background: '#F5A623', justifyContent: 'center', alignItems: 'center' }}&gt;&#10;                        &lt;Text style={{ fontSize: 13, fontWeight: 600, color: '#FFFFFF' }}&gt;输出&lt;/Text&gt;&#10;                    &lt;/Box&gt;&#10;                    &lt;Box style={{ flex: 1, flexDirection: 'column', gap: '4px' }}&gt;&#10;                        &lt;Text style={{ fontSize: 17, fontWeight: 'bold', color: '#16181D' }}&gt;生成式解释&lt;/Text&gt;&#10;                        &lt;Text style={{ fontSize: 13, color: '#5C6470', lineHeight: 1.5 }}&gt;把推荐结果翻译成「为什么是这个车位」——推荐可解释，用户才敢用&lt;/Text&gt;&#10;                    &lt;/Box&gt;&#10;                &lt;/Box&gt;&#10;            &lt;/Box&gt;&#10;        &lt;/Box&gt;&#10;&#10;        {/* 圆场口径通栏 */}&#10;        &lt;Box style={{ height: '124px', flexDirection: 'row', background: 'rgba(245,166,35,0.10)', borderRadius: '12px' }}&gt;&#10;            &lt;Box style={{ width: '4px', height: '100%', background: '#F5A623', borderRadius: '12px 0 0 12px' }} /&gt;&#10;            &lt;Box style={{ flex: 1, padding: '14px 22px', flexDirection: 'column', justifyContent: 'center', gap: '6px' }}&gt;&#10;                &lt;Text style={{ fontSize: 15, color: '#16181D', lineHeight: 1.55 }}&gt;停车链路对时延、可解释、可离线有硬要求，因此实时决策使用确定性算法；大模型只在「理解人话、解释理由、兜底录入」三层发挥作用。&lt;/Text&gt;&#10;                &lt;Text style={{ fontSize: 16, fontWeight: 'bold', color: '#16181D' }}&gt;主动把 AI 约束在合适的层，是工程成熟度的体现，不是能力不足。&lt;/Text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5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实际应用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是装饰吗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用在该用的层，其余刻意不用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4838700" y="1143000"/>
            <a:ext cx="67437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5010150" y="16002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153025" y="16668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695950" y="150495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意图解析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「找个离海底捞近、能充电、婴儿车能走的车位」→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结构化约束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交推荐引擎执行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4838700" y="2447925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5010150" y="2905125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153025" y="29718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兜底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695950" y="281940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多模态</a:t>
            </a:r>
            <a:r>
              <a:rPr lang="en-US" sz="1275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695950" y="3057525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拍停车小票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订单照片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结构化入库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作为车位绑定的兜底通道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838700" y="3762375"/>
            <a:ext cx="67437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5010150" y="4219575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153025" y="42862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695950" y="4124325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生成式解释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695950" y="4362450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把推荐结果翻译成「为什么是这个车位」——推荐可解释，用户才敢用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510540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5A623">
              <a:alpha val="10000"/>
            </a:srgbClr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609600" y="5105400"/>
            <a:ext cx="38100" cy="1181100"/>
          </a:xfrm>
          <a:custGeom>
            <a:pathLst>
              <a:path w="4" h="124">
                <a:moveTo>
                  <a:pt x="4" y="0"/>
                </a:moveTo>
                <a:lnTo>
                  <a:pt x="4" y="0"/>
                </a:lnTo>
                <a:lnTo>
                  <a:pt x="4" y="0"/>
                </a:lnTo>
                <a:lnTo>
                  <a:pt x="4" y="124"/>
                </a:lnTo>
                <a:lnTo>
                  <a:pt x="4" y="124"/>
                </a:lnTo>
                <a:lnTo>
                  <a:pt x="4" y="124"/>
                </a:ln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57250" y="5438775"/>
            <a:ext cx="10515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16181D"/>
                </a:solidFill>
                <a:latin typeface="Microsoft YaHei"/>
                <a:ea typeface="Microsoft YaHei"/>
              </a:rPr>
              <a:t>停车链路对时延、可解释、可离线有硬要求，因此实时决策使用确定性算法；大模型只在「理解人话、解释理由、兜底录入」三层发挥作用。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57250" y="5762625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主动把</a:t>
            </a: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约束在合适的层，是工程成熟度的体现，不是能力不足。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05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1143000"/>
            <a:ext cx="4000500" cy="3810000"/>
          </a:xfrm>
          <a:prstGeom prst="roundRect">
            <a:avLst>
              <a:gd name="adj" fmla="val 4000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76300" y="140970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b="1" spc="2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用点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76300" y="1933575"/>
            <a:ext cx="485775" cy="99060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720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476375" y="2295525"/>
            <a:ext cx="952500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476375" y="2695575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入口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兜底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876300" y="3286125"/>
            <a:ext cx="304800" cy="190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76300" y="3419475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大模型只出现在这三层；推荐、路径、桩状态这些实时环节，刻意不用。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76300" y="4381500"/>
            <a:ext cx="1543050" cy="304800"/>
          </a:xfrm>
          <a:prstGeom prst="roundRect">
            <a:avLst>
              <a:gd name="adj" fmla="val 3121875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028700" y="44577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实时决策：确定性算法</a:t>
            </a:r>
            <a:endParaRPr/>
          </a:p>
        </p:txBody>
      </p:sp>
      <p:pic>
        <p:nvPicPr>
          <p:cNvPr id="2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181350" y="3524250"/>
            <a:ext cx="1428750" cy="1428750"/>
          </a:xfrm>
          <a:custGeom>
            <a:pathLst>
              <a:path w="150" h="150">
                <a:moveTo>
                  <a:pt x="150" y="134"/>
                </a:moveTo>
                <a:cubicBezTo>
                  <a:pt x="150" y="143"/>
                  <a:pt x="143" y="150"/>
                  <a:pt x="134" y="150"/>
                </a:cubicBezTo>
                <a:lnTo>
                  <a:pt x="0" y="150"/>
                </a:lnTo>
                <a:lnTo>
                  <a:pt x="0" y="0"/>
                </a:lnTo>
                <a:lnTo>
                  <a:pt x="150" y="0"/>
                </a:lnTo>
                <a:close/>
              </a:path>
            </a:pathLst>
          </a:cu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2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完成度 · 做得出来吗&lt;/Text&gt;&#10;        &lt;Text style={{ fontSize: 30, fontWeight: 'bold', color: '#16181D', lineHeight: 1.25 }}&gt;可演的 AI 入口：说一句话，得到一个车位&lt;/Text&gt;&#10;    &lt;/Box&gt;&#10;&#10;    {/* B 内容区 */}&#10;    &lt;Box style={{ height: '540px', flexDirection: 'column', gap: '13px' }}&gt;&#10;        {/* 上：demo 三连（竖屏 + 箭头） */}&#10;        &lt;Box style={{ flexDirection: 'row', justifyContent: 'center', gap: '30px', height: '385px' }}&gt;&#10;            &lt;Box style={{ flexDirection: 'column', alignItems: 'center', gap: '8px' }}&gt;&#10;                &lt;Text style={{ fontSize: 14, fontWeight: 600, color: '#2456E6' }}&gt;① 首页 AI 入口&lt;/Text&gt;&#10;                &lt;Image src=&quot;assets/demo_home.png&quot; style={{ width: '165px', height: '357px', objectFit: 'cover', borderRadius: '16px', border: '1px solid #E5E8EF' }} /&gt;&#10;            &lt;/Box&gt;&#10;            &lt;Box style={{ justifyContent: 'center', paddingBottom: '40px' }}&gt;&#10;                &lt;FAIcon name='arrow-right' style={{ fill: '#5C6470', width: '28px', height: '28px' }} /&gt;&#10;            &lt;/Box&gt;&#10;            &lt;Box style={{ flexDirection: 'column', alignItems: 'center', gap: '8px' }}&gt;&#10;                &lt;Text style={{ fontSize: 14, fontWeight: 600, color: '#2456E6' }}&gt;② AI 解析弹窗&lt;/Text&gt;&#10;                &lt;Image src=&quot;assets/demo_parse.png&quot; style={{ width: '165px', height: '357px', objectFit: 'cover', borderRadius: '16px', border: '1px solid #E5E8EF' }} /&gt;&#10;            &lt;/Box&gt;&#10;            &lt;Box style={{ justifyContent: 'center', paddingBottom: '40px' }}&gt;&#10;                &lt;FAIcon name='arrow-right' style={{ fill: '#5C6470', width: '28px', height: '28px' }} /&gt;&#10;            &lt;/Box&gt;&#10;            &lt;Box style={{ flexDirection: 'column', alignItems: 'center', gap: '8px' }}&gt;&#10;                &lt;Text style={{ fontSize: 14, fontWeight: 600, color: '#2456E6' }}&gt;③ 推荐结果&lt;/Text&gt;&#10;                &lt;Image src=&quot;assets/demo_reco.png&quot; style={{ width: '165px', height: '357px', objectFit: 'cover', borderRadius: '16px', border: '1px solid #E5E8EF' }} /&gt;&#10;            &lt;/Box&gt;&#10;        &lt;/Box&gt;&#10;&#10;        {/* 中：30 秒动线 */}&#10;        &lt;Box style={{ height: '100px', background: '#F5F7FB', border: '1px solid #E5E8EF', borderRadius: '12px', padding: '10px 18px', flexDirection: 'column', gap: '6px' }}&gt;&#10;            &lt;Box style={{ flexDirection: 'row', alignItems: 'center' }}&gt;&#10;                &lt;Text style={{ fontSize: 16, fontWeight: 'bold', color: '#16181D' }}&gt;30 秒动线&lt;/Text&gt;&#10;                &lt;Text style={{ marginLeft: 'auto', fontSize: 12, color: '#5C6470' }}&gt;浏览器内现场可演&lt;/Text&gt;&#10;            &lt;/Box&gt;&#10;            &lt;Box style={{ flexDirection: 'row', gap: '10px', flex: 1 }}&gt;&#10;                &lt;Box style={{ flex: 1, flexDirection: 'column', gap: '2px' }}&gt;&#10;                    &lt;Text style={{ fontSize: 14, fontWeight: 'bold', color: '#2456E6' }}&gt;①&lt;/Text&gt;&#10;                    &lt;Text style={{ fontSize: 12, color: '#16181D', lineHeight: 1.4 }}&gt;输入「去海底捞，要充电」&lt;/Text&gt;&#10;                &lt;/Box&gt;&#10;                &lt;Box style={{ flex: 1, flexDirection: 'column', gap: '2px' }}&gt;&#10;                    &lt;Text style={{ fontSize: 14, fontWeight: 'bold', color: '#2456E6' }}&gt;②&lt;/Text&gt;&#10;                    &lt;Text style={{ fontSize: 12, color: '#16181D', lineHeight: 1.4 }}&gt;AI 解析意图，输出结构化约束&lt;/Text&gt;&#10;                &lt;/Box&gt;&#10;                &lt;Box style={{ flex: 1, flexDirection: 'column', gap: '2px' }}&gt;&#10;                    &lt;Text style={{ fontSize: 14, fontWeight: 'bold', color: '#2456E6' }}&gt;③&lt;/Text&gt;&#10;                    &lt;Text style={{ fontSize: 12, color: '#16181D', lineHeight: 1.4 }}&gt;调用推荐引擎&lt;/Text&gt;&#10;                &lt;/Box&gt;&#10;                &lt;Box style={{ flex: 1, flexDirection: 'column', gap: '2px' }}&gt;&#10;                    &lt;Text style={{ fontSize: 14, fontWeight: 'bold', color: '#2456E6' }}&gt;④&lt;/Text&gt;&#10;                    &lt;Text style={{ fontSize: 12, color: '#16181D', lineHeight: 1.4 }}&gt;输出车位卡片：编号+推荐理由&lt;/Text&gt;&#10;                &lt;/Box&gt;&#10;                &lt;Box style={{ flex: 1, flexDirection: 'column', gap: '2px' }}&gt;&#10;                    &lt;Text style={{ fontSize: 14, fontWeight: 'bold', color: '#2456E6' }}&gt;⑤&lt;/Text&gt;&#10;                    &lt;Text style={{ fontSize: 12, color: '#16181D', lineHeight: 1.4 }}&gt;点「导航到此车位」&lt;/Text&gt;&#10;                &lt;/Box&gt;&#10;            &lt;/Box&gt;&#10;        &lt;/Box&gt;&#10;&#10;        {/* 下：诚实标注 */}&#10;        &lt;Box style={{ flexDirection: 'row', alignItems: 'center', gap: '10px' }}&gt;&#10;            &lt;Box style={{ width: '3px', height: '16px', background: '#F5A623', borderRadius: '2px' }} /&gt;&#10;            &lt;Text style={{ fontSize: 12, color: '#5C6470', lineHeight: 1.4 }}&gt;演示用：当前 AI 解析为关键词模拟，真实链路接入多模态大模型 API，可解析更复杂的自然语言；演示车位数、桩数为模拟数据，非实测。评审现场可输入任意自然语言，引擎当场返回推荐结果。&lt;/Text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6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完成度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做得出来吗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可演的</a:t>
            </a:r>
            <a:r>
              <a:rPr lang="en-US" sz="225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入口：说一句话，得到一个车位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228975" y="11430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首页</a:t>
            </a: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2905125" y="1381125"/>
            <a:ext cx="1571625" cy="3400425"/>
          </a:xfrm>
          <a:prstGeom prst="rect">
            <a:avLst/>
          </a:prstGeom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 r:embed="rId1"/>
          <a:srcRect l="2060" t="0" r="2060" b="0"/>
          <a:stretch>
            <a:fillRect/>
          </a:stretch>
        </p:blipFill>
        <p:spPr>
          <a:xfrm rot="0" flipH="0" flipV="0">
            <a:off x="2905125" y="1381125"/>
            <a:ext cx="1571625" cy="3400425"/>
          </a:xfrm>
          <a:prstGeom prst="roundRect">
            <a:avLst>
              <a:gd name="adj" fmla="val 9697"/>
            </a:avLst>
          </a:prstGeom>
          <a:ln/>
        </p:spPr>
      </p:pic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62500" y="2657475"/>
            <a:ext cx="266700" cy="266700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657850" y="11430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② AI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解析弹窗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314950" y="1381125"/>
            <a:ext cx="1571625" cy="3400425"/>
          </a:xfrm>
          <a:prstGeom prst="rect">
            <a:avLst/>
          </a:prstGeom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pic>
        <p:nvPicPr>
          <p:cNvPr id="292" name=""/>
          <p:cNvPicPr>
            <a:picLocks noChangeAspect="1"/>
          </p:cNvPicPr>
          <p:nvPr/>
        </p:nvPicPr>
        <p:blipFill>
          <a:blip r:embed="rId3"/>
          <a:srcRect l="2060" t="0" r="2060" b="0"/>
          <a:stretch>
            <a:fillRect/>
          </a:stretch>
        </p:blipFill>
        <p:spPr>
          <a:xfrm rot="0" flipH="0" flipV="0">
            <a:off x="5314950" y="1381125"/>
            <a:ext cx="1571625" cy="3400425"/>
          </a:xfrm>
          <a:prstGeom prst="roundRect">
            <a:avLst>
              <a:gd name="adj" fmla="val 9697"/>
            </a:avLst>
          </a:prstGeom>
          <a:ln/>
        </p:spPr>
      </p:pic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72325" y="2657475"/>
            <a:ext cx="266700" cy="26670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153400" y="11430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 b="1">
                <a:solidFill>
                  <a:srgbClr val="2456E6"/>
                </a:solidFill>
                <a:latin typeface="Microsoft YaHei"/>
                <a:ea typeface="Microsoft YaHei"/>
              </a:rPr>
              <a:t>推荐结果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724775" y="1381125"/>
            <a:ext cx="1571625" cy="3400425"/>
          </a:xfrm>
          <a:prstGeom prst="rect">
            <a:avLst/>
          </a:prstGeom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pic>
        <p:nvPicPr>
          <p:cNvPr id="296" name=""/>
          <p:cNvPicPr>
            <a:picLocks noChangeAspect="1"/>
          </p:cNvPicPr>
          <p:nvPr/>
        </p:nvPicPr>
        <p:blipFill>
          <a:blip r:embed="rId4"/>
          <a:srcRect l="2060" t="0" r="2060" b="0"/>
          <a:stretch>
            <a:fillRect/>
          </a:stretch>
        </p:blipFill>
        <p:spPr>
          <a:xfrm rot="0" flipH="0" flipV="0">
            <a:off x="7724775" y="1381125"/>
            <a:ext cx="1571625" cy="3400425"/>
          </a:xfrm>
          <a:prstGeom prst="roundRect">
            <a:avLst>
              <a:gd name="adj" fmla="val 9697"/>
            </a:avLst>
          </a:prstGeom>
          <a:ln/>
        </p:spPr>
      </p:pic>
      <p:sp>
        <p:nvSpPr>
          <p:cNvPr id="297" name=""/>
          <p:cNvSpPr/>
          <p:nvPr/>
        </p:nvSpPr>
        <p:spPr>
          <a:xfrm rot="0" flipH="0" flipV="0">
            <a:off x="609600" y="4933950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81050" y="5029200"/>
            <a:ext cx="69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秒动线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496550" y="50577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浏览器内现场可演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81050" y="5276850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456E6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81050" y="5457825"/>
            <a:ext cx="2047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6181D"/>
                </a:solidFill>
                <a:latin typeface="Microsoft YaHei"/>
                <a:ea typeface="Microsoft YaHei"/>
              </a:rPr>
              <a:t>输入「去海底捞，要充电」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2924175" y="5276850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456E6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2924175" y="5457825"/>
            <a:ext cx="2047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16181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16181D"/>
                </a:solidFill>
                <a:latin typeface="Microsoft YaHei"/>
                <a:ea typeface="Microsoft YaHei"/>
              </a:rPr>
              <a:t>解析意图，输出结构化约束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067300" y="52768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456E6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067300" y="5457825"/>
            <a:ext cx="2057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6181D"/>
                </a:solidFill>
                <a:latin typeface="Microsoft YaHei"/>
                <a:ea typeface="Microsoft YaHei"/>
              </a:rPr>
              <a:t>调用推荐引擎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219950" y="5276850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456E6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219950" y="5457825"/>
            <a:ext cx="2047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6181D"/>
                </a:solidFill>
                <a:latin typeface="Microsoft YaHei"/>
                <a:ea typeface="Microsoft YaHei"/>
              </a:rPr>
              <a:t>输出车位卡片：编号</a:t>
            </a:r>
            <a:r>
              <a:rPr lang="en-US" sz="900">
                <a:solidFill>
                  <a:srgbClr val="16181D"/>
                </a:solidFill>
                <a:latin typeface="Microsoft YaHei"/>
                <a:ea typeface="Microsoft YaHei"/>
              </a:rPr>
              <a:t>+</a:t>
            </a:r>
            <a:r>
              <a:rPr lang="zh-CN" sz="900">
                <a:solidFill>
                  <a:srgbClr val="16181D"/>
                </a:solidFill>
                <a:latin typeface="Microsoft YaHei"/>
                <a:ea typeface="Microsoft YaHei"/>
              </a:rPr>
              <a:t>推荐理由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9363075" y="5276850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456E6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363075" y="5457825"/>
            <a:ext cx="2047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6181D"/>
                </a:solidFill>
                <a:latin typeface="Microsoft YaHei"/>
                <a:ea typeface="Microsoft YaHei"/>
              </a:rPr>
              <a:t>点「导航到此车位」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60388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33425" y="6010275"/>
            <a:ext cx="9886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演示用：当前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解析为关键词模拟，真实链路接入多模态大模型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，可解析更复杂的自然语言；演示车位数、桩数为模拟数据，非实测。评审现场可输入任意自然语言，引擎当场返回推荐结果。</a:t>
            </a:r>
            <a:endParaRPr/>
          </a:p>
        </p:txBody>
      </p:sp>
      <p:pic>
        <p:nvPicPr>
          <p:cNvPr id="3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06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5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金鹰落地 · 能落地吗&lt;/Text&gt;&#10;        &lt;Text style={{ fontSize: 30, fontWeight: 'bold', color: '#16181D', lineHeight: 1.25 }}&gt;先在石岐万象汇单场跑通，再走向商圈级&lt;/Text&gt;&#10;    &lt;/Box&gt;&#10;&#10;    {/* B 内容区 */}&#10;    &lt;Box style={{ height: '540px', flexDirection: 'column', gap: '12px' }}&gt;&#10;        {/* 引导句 */}&#10;        &lt;Text style={{ fontSize: 19, color: '#5C6470', lineHeight: 1.5 }}&gt;一期零硬件、零系统改造，落在主办方已具备条件的单场；每一步都有当天可用的退路。&lt;/Text&gt;&#10;&#10;        {/* 三阶段卡（等高）+ 箭头串联 */}&#10;        &lt;Box style={{ flexDirection: 'row', alignItems: 'stretch', gap: '0px', height: '362px' }}&gt;&#10;            {/* 卡 1 */}&#10;            &lt;Box style={{ flex: 1, flexDirection: 'column', background: '#F5F7FB', border: '1px solid #E5E8EF', borderTop: '3px solid #0FA958', borderRadius: '12px', padding: '18px 20px', gap: '10px' }}&gt;&#10;                &lt;Box style={{ flexDirection: 'row', alignItems: 'center' }}&gt;&#10;                    &lt;Box style={{ background: 'rgba(15,169,88,0.10)', border: '1px solid rgba(15,169,88,0.35)', borderRadius: '4px', padding: '3px 8px' }}&gt;&#10;                        &lt;Text style={{ fontSize: 12, fontWeight: 600, color: '#0FA958' }}&gt;复选至决赛&lt;/Text&gt;&#10;                    &lt;/Box&gt;&#10;                &lt;/Box&gt;&#10;                &lt;Box style={{ flexDirection: 'row', alignItems: 'baseline', gap: '8px' }}&gt;&#10;                    &lt;Text style={{ fontSize: 56, fontWeight: 'bold', fontFamily: '&quot;Inter&quot;, &quot;Noto Sans SC&quot;, sans-serif', color: '#0FA958', lineHeight: 1 }}&gt;01&lt;/Text&gt;&#10;                    &lt;Text style={{ fontSize: 20, fontWeight: 'bold', color: '#16181D' }}&gt;单场验证&lt;/Text&gt;&#10;                &lt;/Box&gt;&#10;                &lt;Box style={{ flexDirection: 'column', gap: '6px' }}&gt;&#10;                    &lt;Text style={{ fontSize: 17, color: '#16181D', lineHeight: 1.55 }}&gt;石岐万象汇单场落地，三个功能完整跑通&lt;/Text&gt;&#10;                    &lt;Text style={{ fontSize: 15, color: '#5C6470', lineHeight: 1.55 }}&gt;采集真实使用数据，验证推荐采纳率与被拒原因分布&lt;/Text&gt;&#10;                &lt;/Box&gt;&#10;                &lt;Box style={{ marginTop: 'auto', flexDirection: 'row', alignItems: 'center', gap: '8px' }}&gt;&#10;                    &lt;FAIcon name='check' style={{ fill: '#0FA958', width: '14px', height: '14px' }} /&gt;&#10;                    &lt;Text style={{ fontSize: 13, color: '#0FA958', fontWeight: 600 }}&gt;零硬件 · 零系统改造&lt;/Text&gt;&#10;                &lt;/Box&gt;&#10;            &lt;/Box&gt;&#10;&#10;            {/* 箭头 1 */}&#10;            &lt;Box style={{ width: '40px', alignItems: 'center', justifyContent: 'center' }}&gt;&#10;                &lt;FAIcon name='arrow-right' style={{ fill: '#0FA958', width: '22px', height: '22px' }} /&gt;&#10;            &lt;/Box&gt;&#10;&#10;            {/* 卡 2 */}&#10;            &lt;Box style={{ flex: 1, flexDirection: 'column', background: '#F5F7FB', border: '1px solid #E5E8EF', borderTop: '3px solid #0FA958', borderRadius: '12px', padding: '18px 20px', gap: '10px' }}&gt;&#10;                &lt;Box style={{ flexDirection: 'row', alignItems: 'center' }}&gt;&#10;                    &lt;Box style={{ background: 'rgba(15,169,88,0.10)', border: '1px solid rgba(15,169,88,0.35)', borderRadius: '4px', padding: '3px 8px' }}&gt;&#10;                        &lt;Text style={{ fontSize: 12, fontWeight: 600, color: '#0FA958' }}&gt;决赛后 1–3 月&lt;/Text&gt;&#10;                    &lt;/Box&gt;&#10;                &lt;/Box&gt;&#10;                &lt;Box style={{ flexDirection: 'row', alignItems: 'baseline', gap: '8px' }}&gt;&#10;                    &lt;Text style={{ fontSize: 56, fontWeight: 'bold', fontFamily: '&quot;Inter&quot;, &quot;Noto Sans SC&quot;, sans-serif', color: '#0FA958', lineHeight: 1 }}&gt;02&lt;/Text&gt;&#10;                    &lt;Text style={{ fontSize: 20, fontWeight: 'bold', color: '#16181D' }}&gt;能力沉淀&lt;/Text&gt;&#10;                &lt;/Box&gt;&#10;                &lt;Box style={{ flexDirection: 'column', gap: '6px' }}&gt;&#10;                    &lt;Text style={{ fontSize: 17, color: '#16181D', lineHeight: 1.55 }}&gt;同品牌多场复制，决策服务与场地解耦&lt;/Text&gt;&#10;                    &lt;Text style={{ fontSize: 15, color: '#5C6470', lineHeight: 1.55 }}&gt;主数据标准化、引擎配置化，新场接入只需导表&lt;/Text&gt;&#10;                &lt;/Box&gt;&#10;                &lt;Box style={{ marginTop: 'auto', flexDirection: 'row', alignItems: 'center', gap: '8px' }}&gt;&#10;                    &lt;FAIcon name='check' style={{ fill: '#0FA958', width: '14px', height: '14px' }} /&gt;&#10;                    &lt;Text style={{ fontSize: 13, color: '#0FA958', fontWeight: 600 }}&gt;一套引擎 · 多场复用&lt;/Text&gt;&#10;                &lt;/Box&gt;&#10;            &lt;/Box&gt;&#10;&#10;            {/* 箭头 2 */}&#10;            &lt;Box style={{ width: '40px', alignItems: 'center', justifyContent: 'center' }}&gt;&#10;                &lt;FAIcon name='arrow-right' style={{ fill: '#0FA958', width: '22px', height: '22px' }} /&gt;&#10;            &lt;/Box&gt;&#10;&#10;            {/* 卡 3 */}&#10;            &lt;Box style={{ flex: 1, flexDirection: 'column', background: '#F5F7FB', border: '1px solid #E5E8EF', borderTop: '3px solid #0FA958', borderRadius: '12px', padding: '18px 20px', gap: '10px' }}&gt;&#10;                &lt;Box style={{ flexDirection: 'row', alignItems: 'center' }}&gt;&#10;                    &lt;Box style={{ background: 'rgba(15,169,88,0.10)', border: '1px solid rgba(15,169,88,0.35)', borderRadius: '4px', padding: '3px 8px' }}&gt;&#10;                        &lt;Text style={{ fontSize: 12, fontWeight: 600, color: '#0FA958' }}&gt;3–6 月&lt;/Text&gt;&#10;                    &lt;/Box&gt;&#10;                &lt;/Box&gt;&#10;                &lt;Box style={{ flexDirection: 'row', alignItems: 'baseline', gap: '8px' }}&gt;&#10;                    &lt;Text style={{ fontSize: 56, fontWeight: 'bold', fontFamily: '&quot;Inter&quot;, &quot;Noto Sans SC&quot;, sans-serif', color: '#0FA958', lineHeight: 1 }}&gt;03&lt;/Text&gt;&#10;                    &lt;Text style={{ fontSize: 20, fontWeight: 'bold', color: '#16181D' }}&gt;商圈联动&lt;/Text&gt;&#10;                &lt;/Box&gt;&#10;                &lt;Box style={{ flexDirection: 'column', gap: '6px' }}&gt;&#10;                    &lt;Text style={{ fontSize: 17, color: '#16181D', lineHeight: 1.55 }}&gt;跨场目的地推荐，同一目的地跨场比较&lt;/Text&gt;&#10;                    &lt;Text style={{ fontSize: 15, color: '#5C6470', lineHeight: 1.55 }}&gt;跨场路径编排，走向商圈级客流动线分配&lt;/Text&gt;&#10;                &lt;/Box&gt;&#10;                &lt;Box style={{ marginTop: 'auto', flexDirection: 'row', alignItems: 'center', gap: '8px' }}&gt;&#10;                    &lt;FAIcon name='check' style={{ fill: '#0FA958', width: '14px', height: '14px' }} /&gt;&#10;                    &lt;Text style={{ fontSize: 13, color: '#0FA958', fontWeight: 600 }}&gt;复用主办方会员体系&lt;/Text&gt;&#10;                &lt;/Box&gt;&#10;            &lt;/Box&gt;&#10;        &lt;/Box&gt;&#10;&#10;        {/* 三特性通栏 */}&#10;        &lt;Box style={{ flexDirection: 'row', gap: '12px', height: '118px' }}&gt;&#10;            &lt;Box style={{ flex: 1, background: 'rgba(15,169,88,0.10)', border: '1px solid rgba(15,169,88,0.35)', borderRadius: '12px', padding: '14px 16px', flexDirection: 'column', gap: '6px' }}&gt;&#10;                &lt;Box style={{ flexDirection: 'row', alignItems: 'center', gap: '8px' }}&gt;&#10;                    &lt;FAIcon name='sliders' style={{ fill: '#0FA958', width: '16px', height: '16px' }} /&gt;&#10;                    &lt;Text style={{ fontSize: 18, fontWeight: 'bold', color: '#16181D' }}&gt;可灰度&lt;/Text&gt;&#10;                &lt;/Box&gt;&#10;                &lt;Text style={{ fontSize: 14, color: '#16181D', lineHeight: 1.5 }}&gt;单楼层 + 部分 POI 先行，影响面可控，不一次性全量切换&lt;/Text&gt;&#10;            &lt;/Box&gt;&#10;            &lt;Box style={{ flex: 1, background: 'rgba(15,169,88,0.10)', border: '1px solid rgba(15,169,88,0.35)', borderRadius: '12px', padding: '14px 16px', flexDirection: 'column', gap: '6px' }}&gt;&#10;                &lt;Box style={{ flexDirection: 'row', alignItems: 'center', gap: '8px' }}&gt;&#10;                    &lt;FAIcon name='line-chart' style={{ fill: '#0FA958', width: '16px', height: '16px' }} /&gt;&#10;                    &lt;Text style={{ fontSize: 18, fontWeight: 'bold', color: '#16181D' }}&gt;可观测&lt;/Text&gt;&#10;                &lt;/Box&gt;&#10;                &lt;Text style={{ fontSize: 14, color: '#16181D', lineHeight: 1.5 }}&gt;推荐理由、被拒原因、采纳率全记录，效果用数据说话&lt;/Text&gt;&#10;            &lt;/Box&gt;&#10;            &lt;Box style={{ flex: 1, background: 'rgba(15,169,88,0.10)', border: '1px solid rgba(15,169,88,0.35)', borderRadius: '12px', padding: '14px 16px', flexDirection: 'column', gap: '6px' }}&gt;&#10;                &lt;Box style={{ flexDirection: 'row', alignItems: 'center', gap: '8px' }}&gt;&#10;                    &lt;FAIcon name='history' style={{ fill: '#0FA958', width: '16px', height: '16px' }} /&gt;&#10;                    &lt;Text style={{ fontSize: 18, fontWeight: 'bold', color: '#16181D' }}&gt;可回退&lt;/Text&gt;&#10;                &lt;/Box&gt;&#10;                &lt;Text style={{ fontSize: 14, color: '#16181D', lineHeight: 1.5 }}&gt;异常自动降级为仅按空闲排序，主办方可随时关闭决策层&lt;/Text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7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金鹰落地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能落地吗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先在石岐万象汇单场跑通，再走向商圈级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C6470"/>
                </a:solidFill>
                <a:latin typeface="Microsoft YaHei"/>
                <a:ea typeface="Microsoft YaHei"/>
              </a:rPr>
              <a:t>一期零硬件、零系统改造，落在主办方已具备条件的单场；每一步都有当天可用的退路。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1619250"/>
            <a:ext cx="3400425" cy="3448050"/>
          </a:xfrm>
          <a:prstGeom prst="roundRect">
            <a:avLst>
              <a:gd name="adj" fmla="val 3361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09600" y="1619250"/>
            <a:ext cx="3400425" cy="3448050"/>
          </a:xfrm>
          <a:custGeom>
            <a:pathLst>
              <a:path w="357" h="362">
                <a:moveTo>
                  <a:pt x="346" y="0"/>
                </a:moveTo>
                <a:cubicBezTo>
                  <a:pt x="351" y="0"/>
                  <a:pt x="356" y="4"/>
                  <a:pt x="357" y="9"/>
                </a:cubicBezTo>
                <a:cubicBezTo>
                  <a:pt x="355" y="6"/>
                  <a:pt x="352" y="3"/>
                  <a:pt x="34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45" y="0"/>
                </a:lnTo>
                <a:close/>
              </a:path>
            </a:pathLst>
          </a:custGeom>
          <a:solidFill>
            <a:srgbClr val="0FA958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800100" y="1790700"/>
            <a:ext cx="723900" cy="200025"/>
          </a:xfrm>
          <a:prstGeom prst="roundRect">
            <a:avLst>
              <a:gd name="adj" fmla="val 19048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76300" y="18192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复选至决赛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00100" y="2085975"/>
            <a:ext cx="5619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FA958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438275" y="2085975"/>
            <a:ext cx="762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181D"/>
                </a:solidFill>
                <a:latin typeface="Microsoft YaHei"/>
                <a:ea typeface="Microsoft YaHei"/>
              </a:rPr>
              <a:t>单场验证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00100" y="2828925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6181D"/>
                </a:solidFill>
                <a:latin typeface="Microsoft YaHei"/>
                <a:ea typeface="Microsoft YaHei"/>
              </a:rPr>
              <a:t>石岐万象汇单场落地，三个功能完整跑通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00100" y="3190875"/>
            <a:ext cx="30194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C6470"/>
                </a:solidFill>
                <a:latin typeface="Microsoft YaHei"/>
                <a:ea typeface="Microsoft YaHei"/>
              </a:rPr>
              <a:t>采集真实使用数据，验证推荐采纳率与被拒原因分布</a:t>
            </a:r>
            <a:endParaRPr/>
          </a:p>
        </p:txBody>
      </p:sp>
      <p:pic>
        <p:nvPicPr>
          <p:cNvPr id="3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4724400"/>
            <a:ext cx="133350" cy="133350"/>
          </a:xfrm>
          <a:prstGeom prst="rect">
            <a:avLst/>
          </a:prstGeom>
          <a:ln/>
        </p:spPr>
      </p:pic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09650" y="47148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零硬件</a:t>
            </a:r>
            <a:r>
              <a:rPr lang="en-US" sz="975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零系统改造</a:t>
            </a:r>
            <a:endParaRPr/>
          </a:p>
        </p:txBody>
      </p:sp>
      <p:pic>
        <p:nvPicPr>
          <p:cNvPr id="3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95750" y="3209925"/>
            <a:ext cx="209550" cy="209550"/>
          </a:xfrm>
          <a:prstGeom prst="rect">
            <a:avLst/>
          </a:prstGeom>
          <a:ln/>
        </p:spPr>
      </p:pic>
      <p:sp>
        <p:nvSpPr>
          <p:cNvPr id="331" name=""/>
          <p:cNvSpPr/>
          <p:nvPr/>
        </p:nvSpPr>
        <p:spPr>
          <a:xfrm rot="0" flipH="0" flipV="0">
            <a:off x="4391025" y="1619250"/>
            <a:ext cx="3409950" cy="3448050"/>
          </a:xfrm>
          <a:prstGeom prst="roundRect">
            <a:avLst>
              <a:gd name="adj" fmla="val 3352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4391025" y="1619250"/>
            <a:ext cx="3409950" cy="3448050"/>
          </a:xfrm>
          <a:custGeom>
            <a:pathLst>
              <a:path w="358" h="362">
                <a:moveTo>
                  <a:pt x="347" y="0"/>
                </a:moveTo>
                <a:cubicBezTo>
                  <a:pt x="352" y="0"/>
                  <a:pt x="357" y="4"/>
                  <a:pt x="358" y="9"/>
                </a:cubicBezTo>
                <a:cubicBezTo>
                  <a:pt x="356" y="6"/>
                  <a:pt x="353" y="3"/>
                  <a:pt x="34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46" y="0"/>
                </a:lnTo>
                <a:close/>
              </a:path>
            </a:pathLst>
          </a:custGeom>
          <a:solidFill>
            <a:srgbClr val="0FA958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4581525" y="1790700"/>
            <a:ext cx="885825" cy="200025"/>
          </a:xfrm>
          <a:prstGeom prst="roundRect">
            <a:avLst>
              <a:gd name="adj" fmla="val 19048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657725" y="1819275"/>
            <a:ext cx="733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决赛后</a:t>
            </a:r>
            <a:r>
              <a:rPr lang="en-US" sz="900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1–3 </a:t>
            </a: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81525" y="2085975"/>
            <a:ext cx="5619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FA958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219700" y="2085975"/>
            <a:ext cx="762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181D"/>
                </a:solidFill>
                <a:latin typeface="Microsoft YaHei"/>
                <a:ea typeface="Microsoft YaHei"/>
              </a:rPr>
              <a:t>能力沉淀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581525" y="2828925"/>
            <a:ext cx="30289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6181D"/>
                </a:solidFill>
                <a:latin typeface="Microsoft YaHei"/>
                <a:ea typeface="Microsoft YaHei"/>
              </a:rPr>
              <a:t>同品牌多场复制，决策服务与场地解耦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581525" y="3190875"/>
            <a:ext cx="30289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6470"/>
                </a:solidFill>
                <a:latin typeface="Microsoft YaHei"/>
                <a:ea typeface="Microsoft YaHei"/>
              </a:rPr>
              <a:t>主数据标准化、引擎配置化，新场接入只需导表</a:t>
            </a:r>
            <a:endParaRPr/>
          </a:p>
        </p:txBody>
      </p:sp>
      <p:pic>
        <p:nvPicPr>
          <p:cNvPr id="3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81525" y="4724400"/>
            <a:ext cx="133350" cy="133350"/>
          </a:xfrm>
          <a:prstGeom prst="rect">
            <a:avLst/>
          </a:prstGeom>
          <a:ln/>
        </p:spPr>
      </p:pic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791075" y="47148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一套引擎</a:t>
            </a:r>
            <a:r>
              <a:rPr lang="en-US" sz="975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多场复用</a:t>
            </a:r>
            <a:endParaRPr/>
          </a:p>
        </p:txBody>
      </p:sp>
      <p:pic>
        <p:nvPicPr>
          <p:cNvPr id="3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86700" y="3209925"/>
            <a:ext cx="209550" cy="209550"/>
          </a:xfrm>
          <a:prstGeom prst="rect">
            <a:avLst/>
          </a:prstGeom>
          <a:ln/>
        </p:spPr>
      </p:pic>
      <p:sp>
        <p:nvSpPr>
          <p:cNvPr id="342" name=""/>
          <p:cNvSpPr/>
          <p:nvPr/>
        </p:nvSpPr>
        <p:spPr>
          <a:xfrm rot="0" flipH="0" flipV="0">
            <a:off x="8181975" y="1619250"/>
            <a:ext cx="3400425" cy="3448050"/>
          </a:xfrm>
          <a:prstGeom prst="roundRect">
            <a:avLst>
              <a:gd name="adj" fmla="val 3361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8181975" y="1619250"/>
            <a:ext cx="3400425" cy="3448050"/>
          </a:xfrm>
          <a:custGeom>
            <a:pathLst>
              <a:path w="357" h="362">
                <a:moveTo>
                  <a:pt x="346" y="0"/>
                </a:moveTo>
                <a:cubicBezTo>
                  <a:pt x="351" y="0"/>
                  <a:pt x="356" y="4"/>
                  <a:pt x="357" y="9"/>
                </a:cubicBezTo>
                <a:cubicBezTo>
                  <a:pt x="355" y="6"/>
                  <a:pt x="352" y="3"/>
                  <a:pt x="34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45" y="0"/>
                </a:lnTo>
                <a:close/>
              </a:path>
            </a:pathLst>
          </a:custGeom>
          <a:solidFill>
            <a:srgbClr val="0FA958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8372475" y="1790700"/>
            <a:ext cx="504825" cy="200025"/>
          </a:xfrm>
          <a:prstGeom prst="roundRect">
            <a:avLst>
              <a:gd name="adj" fmla="val 19048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448675" y="181927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A958"/>
                </a:solidFill>
                <a:latin typeface="Microsoft YaHei"/>
                <a:ea typeface="Microsoft YaHei"/>
              </a:rPr>
              <a:t xml:space="preserve">3–6 </a:t>
            </a: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72475" y="2085975"/>
            <a:ext cx="5619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FA958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010650" y="2085975"/>
            <a:ext cx="762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181D"/>
                </a:solidFill>
                <a:latin typeface="Microsoft YaHei"/>
                <a:ea typeface="Microsoft YaHei"/>
              </a:rPr>
              <a:t>商圈联动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372475" y="2828925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6181D"/>
                </a:solidFill>
                <a:latin typeface="Microsoft YaHei"/>
                <a:ea typeface="Microsoft YaHei"/>
              </a:rPr>
              <a:t>跨场目的地推荐，同一目的地跨场比较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372475" y="3190875"/>
            <a:ext cx="30194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6470"/>
                </a:solidFill>
                <a:latin typeface="Microsoft YaHei"/>
                <a:ea typeface="Microsoft YaHei"/>
              </a:rPr>
              <a:t>跨场路径编排，走向商圈级客流动线分配</a:t>
            </a:r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72475" y="4724400"/>
            <a:ext cx="133350" cy="133350"/>
          </a:xfrm>
          <a:prstGeom prst="rect">
            <a:avLst/>
          </a:prstGeom>
          <a:ln/>
        </p:spPr>
      </p:pic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582025" y="47148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A958"/>
                </a:solidFill>
                <a:latin typeface="Microsoft YaHei"/>
                <a:ea typeface="Microsoft YaHei"/>
              </a:rPr>
              <a:t>复用主办方会员体系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5153025"/>
            <a:ext cx="3581400" cy="1123950"/>
          </a:xfrm>
          <a:prstGeom prst="roundRect">
            <a:avLst>
              <a:gd name="adj" fmla="val 10169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2000" y="5314950"/>
            <a:ext cx="152400" cy="152400"/>
          </a:xfrm>
          <a:prstGeom prst="rect">
            <a:avLst/>
          </a:prstGeom>
          <a:ln/>
        </p:spPr>
      </p:pic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90600" y="52863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可灰度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62000" y="5553075"/>
            <a:ext cx="3276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单楼层</a:t>
            </a:r>
            <a:r>
              <a:rPr lang="en-US" sz="1050">
                <a:solidFill>
                  <a:srgbClr val="16181D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部分</a:t>
            </a:r>
            <a:r>
              <a:rPr lang="en-US" sz="1050">
                <a:solidFill>
                  <a:srgbClr val="16181D"/>
                </a:solidFill>
                <a:latin typeface="Microsoft YaHei"/>
                <a:ea typeface="Microsoft YaHei"/>
              </a:rPr>
              <a:t xml:space="preserve"> POI </a:t>
            </a: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先行，影响面可控，不一次性全量切换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305300" y="5153025"/>
            <a:ext cx="3581400" cy="1123950"/>
          </a:xfrm>
          <a:prstGeom prst="roundRect">
            <a:avLst>
              <a:gd name="adj" fmla="val 10169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457700" y="5314950"/>
            <a:ext cx="152400" cy="152400"/>
          </a:xfrm>
          <a:prstGeom prst="rect">
            <a:avLst/>
          </a:prstGeom>
          <a:ln/>
        </p:spPr>
      </p:pic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686300" y="52863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可观测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457700" y="5553075"/>
            <a:ext cx="3276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推荐理由、被拒原因、采纳率全记录，效果用数据说话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8001000" y="5153025"/>
            <a:ext cx="3581400" cy="1123950"/>
          </a:xfrm>
          <a:prstGeom prst="roundRect">
            <a:avLst>
              <a:gd name="adj" fmla="val 10169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153400" y="5314950"/>
            <a:ext cx="152400" cy="152400"/>
          </a:xfrm>
          <a:prstGeom prst="rect">
            <a:avLst/>
          </a:prstGeom>
          <a:ln/>
        </p:spPr>
      </p:pic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382000" y="52863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181D"/>
                </a:solidFill>
                <a:latin typeface="Microsoft YaHei"/>
                <a:ea typeface="Microsoft YaHei"/>
              </a:rPr>
              <a:t>可回退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153400" y="5553075"/>
            <a:ext cx="3276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异常自动降级为仅按空闲排序，主办方可随时关闭决策层</a:t>
            </a:r>
            <a:endParaRPr/>
          </a:p>
        </p:txBody>
      </p:sp>
      <p:pic>
        <p:nvPicPr>
          <p:cNvPr id="3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07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7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合规 · 走得远吗&lt;/Text&gt;&#10;        &lt;Text style={{ fontSize: 30, fontWeight: 'bold', color: '#16181D', lineHeight: 1.25 }}&gt;架构上就绕开了车牌敏感信息&lt;/Text&gt;&#10;    &lt;/Box&gt;&#10;&#10;    {/* B 内容区 */}&#10;    &lt;Box style={{ height: '540px', flexDirection: 'column', gap: '12px' }}&gt;&#10;        {/* 引导句 */}&#10;        &lt;Text style={{ fontSize: 19, color: '#5C6470', lineHeight: 1.5 }}&gt;三条红线逐条给出落地处理，不做「原则上支持」式的空承诺。&lt;/Text&gt;&#10;&#10;        {/* 非对称双栏 60:40 */}&#10;        &lt;Box style={{ flexDirection: 'row', gap: '24px', flex: 1 }}&gt;&#10;            {/* 左 60%：三红线落地表（纵向三行） */}&#10;            &lt;Box style={{ width: '688px', flexDirection: 'column', gap: '10px' }}&gt;&#10;                {/* 行 1 */}&#10;                &lt;Box style={{ flex: 1, flexDirection: 'row', alignItems: 'stretch', background: '#F5F7FB', border: '1px solid #E5E8EF', borderRadius: '10px', overflow: 'hidden' }}&gt;&#10;                    &lt;Box style={{ width: '3px', background: '#F5A623' }} /&gt;&#10;                    &lt;Box style={{ flex: 1, flexDirection: 'column', padding: '12px 16px', gap: '4px' }}&gt;&#10;                        &lt;Box style={{ flexDirection: 'row', alignItems: 'center', gap: '8px' }}&gt;&#10;                            &lt;Text style={{ fontSize: 12, fontWeight: 600, color: '#F5A623', letterSpacing: 1 }}&gt;红线 1&lt;/Text&gt;&#10;                            &lt;Text style={{ fontSize: 17, fontWeight: 'bold', color: '#16181D' }}&gt;微信订阅消息有调用限制&lt;/Text&gt;&#10;                        &lt;/Box&gt;&#10;                        &lt;Text style={{ fontSize: 14, color: '#16181D', lineHeight: 1.5 }}&gt;不做自动定时推送；停车时用户主动授权一次下发凭证，返程前由用户主动生成路线。&lt;/Text&gt;&#10;                    &lt;/Box&gt;&#10;                &lt;/Box&gt;&#10;&#10;                {/* 行 2 */}&#10;                &lt;Box style={{ flex: 1, flexDirection: 'row', alignItems: 'stretch', background: '#F5F7FB', border: '1px solid #E5E8EF', borderRadius: '10px', overflow: 'hidden' }}&gt;&#10;                    &lt;Box style={{ width: '3px', background: '#F5A623' }} /&gt;&#10;                    &lt;Box style={{ flex: 1, flexDirection: 'column', padding: '12px 16px', gap: '4px' }}&gt;&#10;                        &lt;Box style={{ flexDirection: 'row', alignItems: 'center', gap: '8px' }}&gt;&#10;                            &lt;Text style={{ fontSize: 12, fontWeight: 600, color: '#F5A623', letterSpacing: 1 }}&gt;红线 2&lt;/Text&gt;&#10;                            &lt;Text style={{ fontSize: 17, fontWeight: 'bold', color: '#16181D' }}&gt;车牌属敏感个人信息&lt;/Text&gt;&#10;                        &lt;/Box&gt;&#10;                        &lt;Text style={{ fontSize: 14, color: '#16181D', lineHeight: 1.5 }}&gt;主链路以会员码 + 车位码绑定；功能①完整发生在停车前，整条链路不需要车牌。&lt;/Text&gt;&#10;                    &lt;/Box&gt;&#10;                &lt;/Box&gt;&#10;&#10;                {/* 行 3 */}&#10;                &lt;Box style={{ flex: 1, flexDirection: 'row', alignItems: 'stretch', background: '#F5F7FB', border: '1px solid #E5E8EF', borderRadius: '10px', overflow: 'hidden' }}&gt;&#10;                    &lt;Box style={{ width: '3px', background: '#F5A623' }} /&gt;&#10;                    &lt;Box style={{ flex: 1, flexDirection: 'column', padding: '12px 16px', gap: '4px' }}&gt;&#10;                        &lt;Box style={{ flexDirection: 'row', alignItems: 'center', gap: '8px' }}&gt;&#10;                            &lt;Text style={{ fontSize: 12, fontWeight: 600, color: '#F5A623', letterSpacing: 1 }}&gt;红线 3&lt;/Text&gt;&#10;                            &lt;Text style={{ fontSize: 17, fontWeight: 'bold', color: '#16181D' }}&gt;地下车库网络不稳定&lt;/Text&gt;&#10;                        &lt;/Box&gt;&#10;                        &lt;Text style={{ fontSize: 14, color: '#16181D', lineHeight: 1.5 }}&gt;数据随小程序包内置、路径本地计算；空桩状态读本地缓存，并显式标注数据时效。&lt;/Text&gt;&#10;                    &lt;/Box&gt;&#10;                &lt;/Box&gt;&#10;            &lt;/Box&gt;&#10;&#10;            {/* 右 40%：架构优势强调卡（主蓝） */}&#10;            &lt;Box style={{ flex: 1, flexDirection: 'column', background: '#2456E6', borderRadius: '12px', padding: '24px', gap: '14px' }}&gt;&#10;                &lt;Box style={{ background: 'rgba(245,166,35,0.12)', border: '1px solid #F5A623', borderRadius: '4px', padding: '3px 8px', flexDirection: 'row', alignSelf: 'flex-start' }}&gt;&#10;                    &lt;Text style={{ fontSize: 12, fontWeight: 600, color: '#F5A623' }}&gt;架构优势&lt;/Text&gt;&#10;                &lt;/Box&gt;&#10;                &lt;Text style={{ fontSize: 56, fontWeight: 'bold', fontFamily: '&quot;Inter&quot;, &quot;Noto Sans SC&quot;, sans-serif', color: '#FFFFFF', lineHeight: 1.1 }}&gt;不需要车牌&lt;/Text&gt;&#10;                &lt;Text style={{ fontSize: 15, color: 'rgba(255,255,255,0.85)', lineHeight: 1.6 }}&gt;最核心的创新功能——目的地选车位，完整发生在停车之前，从架构上绕开了车牌这一敏感信息。&lt;/Text&gt;&#10;                &lt;Box style={{ marginTop: 'auto', background: 'rgba(255,255,255,0.10)', borderLeft: '3px solid #F5A623', borderRadius: '4px', padding: '10px 12px' }}&gt;&#10;                    &lt;Text style={{ fontSize: 14, color: '#FFFFFF', lineHeight: 1.5 }}&gt;这不是回避合规，是从架构上绕开了它。&lt;/Text&gt;&#10;                &lt;/Box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8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合规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走得远吗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架构上就绕开了车牌敏感信息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C6470"/>
                </a:solidFill>
                <a:latin typeface="Microsoft YaHei"/>
                <a:ea typeface="Microsoft YaHei"/>
              </a:rPr>
              <a:t>三条红线逐条给出落地处理，不做「原则上支持」式的空承诺。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1590675"/>
            <a:ext cx="6553200" cy="1504950"/>
          </a:xfrm>
          <a:prstGeom prst="roundRect">
            <a:avLst>
              <a:gd name="adj" fmla="val 6329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09600" y="1590675"/>
            <a:ext cx="28575" cy="1504950"/>
          </a:xfrm>
          <a:custGeom>
            <a:pathLst>
              <a:path w="3" h="158">
                <a:moveTo>
                  <a:pt x="3" y="155"/>
                </a:moveTo>
                <a:cubicBezTo>
                  <a:pt x="1" y="153"/>
                  <a:pt x="0" y="151"/>
                  <a:pt x="0" y="148"/>
                </a:cubicBezTo>
                <a:lnTo>
                  <a:pt x="0" y="10"/>
                </a:lnTo>
                <a:cubicBezTo>
                  <a:pt x="0" y="7"/>
                  <a:pt x="1" y="5"/>
                  <a:pt x="3" y="3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90575" y="1733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F5A623"/>
                </a:solidFill>
                <a:latin typeface="Microsoft YaHei"/>
                <a:ea typeface="Microsoft YaHei"/>
              </a:rPr>
              <a:t>红线</a:t>
            </a:r>
            <a:r>
              <a:rPr lang="en-US" sz="900" b="1" spc="75">
                <a:solidFill>
                  <a:srgbClr val="F5A623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238250" y="170497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微信订阅消息有调用限制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90575" y="1943100"/>
            <a:ext cx="62198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不做自动定时推送；停车时用户主动授权一次下发凭证，返程前由用户主动生成路线。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3190875"/>
            <a:ext cx="6553200" cy="1495425"/>
          </a:xfrm>
          <a:prstGeom prst="roundRect">
            <a:avLst>
              <a:gd name="adj" fmla="val 6369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609600" y="3190875"/>
            <a:ext cx="28575" cy="1495425"/>
          </a:xfrm>
          <a:custGeom>
            <a:pathLst>
              <a:path w="3" h="157">
                <a:moveTo>
                  <a:pt x="3" y="154"/>
                </a:moveTo>
                <a:cubicBezTo>
                  <a:pt x="1" y="152"/>
                  <a:pt x="0" y="150"/>
                  <a:pt x="0" y="147"/>
                </a:cubicBezTo>
                <a:lnTo>
                  <a:pt x="0" y="10"/>
                </a:lnTo>
                <a:cubicBezTo>
                  <a:pt x="0" y="7"/>
                  <a:pt x="1" y="5"/>
                  <a:pt x="3" y="3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90575" y="33337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F5A623"/>
                </a:solidFill>
                <a:latin typeface="Microsoft YaHei"/>
                <a:ea typeface="Microsoft YaHei"/>
              </a:rPr>
              <a:t>红线</a:t>
            </a:r>
            <a:r>
              <a:rPr lang="en-US" sz="900" b="1" spc="75">
                <a:solidFill>
                  <a:srgbClr val="F5A623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238250" y="330517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车牌属敏感个人信息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90575" y="3543300"/>
            <a:ext cx="62198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主链路以会员码</a:t>
            </a:r>
            <a:r>
              <a:rPr lang="en-US" sz="1050">
                <a:solidFill>
                  <a:srgbClr val="16181D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车位码绑定；功能①完整发生在停车前，整条链路不需要车牌。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4781550"/>
            <a:ext cx="6553200" cy="1504950"/>
          </a:xfrm>
          <a:prstGeom prst="roundRect">
            <a:avLst>
              <a:gd name="adj" fmla="val 6329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609600" y="4781550"/>
            <a:ext cx="28575" cy="1504950"/>
          </a:xfrm>
          <a:custGeom>
            <a:pathLst>
              <a:path w="3" h="158">
                <a:moveTo>
                  <a:pt x="3" y="155"/>
                </a:moveTo>
                <a:cubicBezTo>
                  <a:pt x="1" y="153"/>
                  <a:pt x="0" y="151"/>
                  <a:pt x="0" y="148"/>
                </a:cubicBezTo>
                <a:lnTo>
                  <a:pt x="0" y="10"/>
                </a:lnTo>
                <a:cubicBezTo>
                  <a:pt x="0" y="7"/>
                  <a:pt x="1" y="5"/>
                  <a:pt x="3" y="3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90575" y="49244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F5A623"/>
                </a:solidFill>
                <a:latin typeface="Microsoft YaHei"/>
                <a:ea typeface="Microsoft YaHei"/>
              </a:rPr>
              <a:t>红线</a:t>
            </a:r>
            <a:r>
              <a:rPr lang="en-US" sz="900" b="1" spc="75">
                <a:solidFill>
                  <a:srgbClr val="F5A623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238250" y="48958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地下车库网络不稳定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90575" y="5133975"/>
            <a:ext cx="62198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6181D"/>
                </a:solidFill>
                <a:latin typeface="Microsoft YaHei"/>
                <a:ea typeface="Microsoft YaHei"/>
              </a:rPr>
              <a:t>数据随小程序包内置、路径本地计算；空桩状态读本地缓存，并显式标注数据时效。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391400" y="1590675"/>
            <a:ext cx="4191000" cy="4695825"/>
          </a:xfrm>
          <a:prstGeom prst="roundRect">
            <a:avLst>
              <a:gd name="adj" fmla="val 2727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7620000" y="1819275"/>
            <a:ext cx="609600" cy="200025"/>
          </a:xfrm>
          <a:prstGeom prst="roundRect">
            <a:avLst>
              <a:gd name="adj" fmla="val 19048"/>
            </a:avLst>
          </a:prstGeom>
          <a:solidFill>
            <a:srgbClr val="F5A623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696200" y="18478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A623"/>
                </a:solidFill>
                <a:latin typeface="Microsoft YaHei"/>
                <a:ea typeface="Microsoft YaHei"/>
              </a:rPr>
              <a:t>架构优势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620000" y="2152650"/>
            <a:ext cx="373380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200" b="1">
                <a:solidFill>
                  <a:srgbClr val="FFFFFF"/>
                </a:solidFill>
                <a:latin typeface="Inter"/>
                <a:ea typeface="Inter"/>
              </a:rPr>
              <a:t>不需要车牌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620000" y="2990850"/>
            <a:ext cx="3733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最核心的创新功能——目的地选车位，完整发生在停车之前，从架构上绕开了车牌这一敏感信息。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648575" y="5619750"/>
            <a:ext cx="373380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7648575" y="5619750"/>
            <a:ext cx="3733800" cy="438150"/>
          </a:xfrm>
          <a:custGeom>
            <a:pathLst>
              <a:path w="392" h="46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5"/>
                </a:lnTo>
                <a:cubicBezTo>
                  <a:pt x="3" y="45"/>
                  <a:pt x="3" y="46"/>
                  <a:pt x="4" y="46"/>
                </a:cubicBezTo>
                <a:cubicBezTo>
                  <a:pt x="2" y="46"/>
                  <a:pt x="0" y="44"/>
                  <a:pt x="0" y="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762875" y="5715000"/>
            <a:ext cx="34766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这不是回避合规，是从架构上绕开了它。</a:t>
            </a:r>
            <a:endParaRPr/>
          </a:p>
        </p:txBody>
      </p:sp>
      <p:pic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08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8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团队与未来 · 可持续吗&lt;/Text&gt;&#10;        &lt;Text style={{ fontSize: 30, fontWeight: 'bold', color: '#16181D', lineHeight: 1.25 }}&gt;从单场提效，走向商圈级客流动线分配&lt;/Text&gt;&#10;    &lt;/Box&gt;&#10;&#10;    {/* B 内容区 */}&#10;    &lt;Box style={{ height: '540px', flexDirection: 'column', gap: '16px' }}&gt;&#10;        {/* 未来目标条 */}&#10;        &lt;Box style={{ height: '110px', background: '#F5F7FB', border: '1px solid #E5E8EF', borderLeft: '3px solid #2456E6', borderRadius: '10px', padding: '14px 20px', flexDirection: 'column', gap: '6px' }}&gt;&#10;            &lt;Box style={{ flexDirection: 'row', alignItems: 'center', gap: '8px' }}&gt;&#10;                &lt;Text style={{ fontSize: 12, fontWeight: 600, color: '#2456E6', letterSpacing: 1 }}&gt;下一步&lt;/Text&gt;&#10;                &lt;Text style={{ fontSize: 17, fontWeight: 'bold', color: '#16181D' }}&gt;同一目的地，跨场比较「哪个场更好停、更近」&lt;/Text&gt;&#10;            &lt;/Box&gt;&#10;            &lt;Text style={{ fontSize: 15, color: '#5C6470', lineHeight: 1.55 }}&gt;停车位选择从「单场提效」升级为「商圈级客流动线分配」——车记得做的事情很克制：在一堆已经算好的数据之上，加一层算法。&lt;/Text&gt;&#10;        &lt;/Box&gt;&#10;&#10;        {/* 居中金句 */}&#10;        &lt;Box style={{ flex: 1, flexDirection: 'column', alignItems: 'center', justifyContent: 'center', gap: '14px' }}&gt;&#10;            &lt;Box style={{ width: '48px', height: '4px', background: '#F5A623', borderRadius: '2px' }} /&gt;&#10;            &lt;Text style={{ fontSize: 44, fontWeight: 'bold', color: '#16181D', lineHeight: 1.45, textAlign: 'center' }}&gt;主办方已建好一座信息完整的停车系统，缺的是最后一步——&lt;span style={{ color: '#2456E6' }}&gt;替用户做那个选择&lt;/span&gt;。&lt;/Text&gt;&#10;            &lt;Box style={{ width: '48px', height: '4px', background: '#F5A623', borderRadius: '2px' }} /&gt;&#10;        &lt;/Box&gt;&#10;&#10;        {/* 团队占位三条 */}&#10;        &lt;Box style={{ height: '110px', flexDirection: 'column', gap: '10px' }}&gt;&#10;            &lt;Text style={{ fontSize: 13, fontWeight: 600, color: '#5C6470', letterSpacing: 2 }}&gt;团队构成&lt;/Text&gt;&#10;            &lt;Box style={{ flexDirection: 'row', gap: '12px', flex: 1 }}&gt;&#10;                &lt;Box style={{ flex: 1, background: '#FFFFFF', border: '1px dashed #E5E8EF', borderRadius: '10px', padding: '12px 16px', flexDirection: 'column', gap: '4px', justifyContent: 'center' }}&gt;&#10;                    &lt;Text style={{ fontSize: 16, fontWeight: 'bold', color: '#16181D' }}&gt;产品与算法&lt;/Text&gt;&#10;                    &lt;Text style={{ fontSize: 13, color: '#5C6470' }}&gt;负责人与分工待补充&lt;/Text&gt;&#10;                &lt;/Box&gt;&#10;                &lt;Box style={{ flex: 1, background: '#FFFFFF', border: '1px dashed #E5E8EF', borderRadius: '10px', padding: '12px 16px', flexDirection: 'column', gap: '4px', justifyContent: 'center' }}&gt;&#10;                    &lt;Text style={{ fontSize: 16, fontWeight: 'bold', color: '#16181D' }}&gt;工程实现&lt;/Text&gt;&#10;                    &lt;Text style={{ fontSize: 13, color: '#5C6470' }}&gt;负责人与分工待补充&lt;/Text&gt;&#10;                &lt;/Box&gt;&#10;                &lt;Box style={{ flex: 1, background: '#FFFFFF', border: '1px dashed #E5E8EF', borderRadius: '10px', padding: '12px 16px', flexDirection: 'column', gap: '4px', justifyContent: 'center' }}&gt;&#10;                    &lt;Text style={{ fontSize: 16, fontWeight: 'bold', color: '#16181D' }}&gt;商圈调研&lt;/Text&gt;&#10;                    &lt;Text style={{ fontSize: 13, color: '#5C6470' }}&gt;负责人与分工待补充&lt;/Text&gt;&#10;                &lt;/Box&gt;&#10;            &lt;/Box&gt;&#10;        &lt;/Box&gt;&#10;    &lt;/Box&gt;&#10;&#10;    {/* C 页脚条（简化）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09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团队与未来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可持续吗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从单场提效，走向商圈级客流动线分配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38175" y="11430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638175" y="1143000"/>
            <a:ext cx="10972800" cy="1047750"/>
          </a:xfrm>
          <a:custGeom>
            <a:pathLst>
              <a:path w="1152" h="11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03"/>
                </a:lnTo>
                <a:cubicBezTo>
                  <a:pt x="3" y="106"/>
                  <a:pt x="5" y="109"/>
                  <a:pt x="8" y="110"/>
                </a:cubicBezTo>
                <a:cubicBezTo>
                  <a:pt x="3" y="109"/>
                  <a:pt x="0" y="105"/>
                  <a:pt x="0" y="10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456E6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28675" y="13049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2456E6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276350" y="1276350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181D"/>
                </a:solidFill>
                <a:latin typeface="Microsoft YaHei"/>
                <a:ea typeface="Microsoft YaHei"/>
              </a:rPr>
              <a:t>同一目的地，跨场比较「哪个场更好停、更近」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28675" y="1533525"/>
            <a:ext cx="105632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6470"/>
                </a:solidFill>
                <a:latin typeface="Microsoft YaHei"/>
                <a:ea typeface="Microsoft YaHei"/>
              </a:rPr>
              <a:t>停车位选择从「单场提效」升级为「商圈级客流动线分配」——车记得做的事情很克制：在一堆已经算好的数据之上，加一层算法。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867400" y="28098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2981325"/>
            <a:ext cx="10972800" cy="14668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zh-CN" sz="3300" b="1">
                <a:solidFill>
                  <a:srgbClr val="16181D"/>
                </a:solidFill>
                <a:latin typeface="Microsoft YaHei"/>
                <a:ea typeface="Microsoft YaHei"/>
              </a:rPr>
              <a:t>主办方已建好一座信息完整的停车系统，缺的是最后一步——</a:t>
            </a:r>
            <a:r>
              <a:rPr lang="zh-CN" sz="3300" b="1">
                <a:solidFill>
                  <a:srgbClr val="2456E6"/>
                </a:solidFill>
                <a:latin typeface="Microsoft YaHei"/>
                <a:ea typeface="Microsoft YaHei"/>
              </a:rPr>
              <a:t>替用户做那个选择</a:t>
            </a:r>
            <a:r>
              <a:rPr lang="zh-CN" sz="3300" b="1">
                <a:solidFill>
                  <a:srgbClr val="16181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867400" y="458152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523875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5C6470"/>
                </a:solidFill>
                <a:latin typeface="Microsoft YaHei"/>
                <a:ea typeface="Microsoft YaHei"/>
              </a:rPr>
              <a:t>团队构成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5486400"/>
            <a:ext cx="35814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dash"/>
          </a:ln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62000" y="56959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产品与算法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62000" y="592455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负责人与分工待补充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4305300" y="5486400"/>
            <a:ext cx="35814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dash"/>
          </a:ln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457700" y="56959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工程实现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4457700" y="592455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负责人与分工待补充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8001000" y="5486400"/>
            <a:ext cx="35814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dash"/>
          </a:ln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153400" y="56959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商圈调研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153400" y="592455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负责人与分工待补充</a:t>
            </a:r>
            <a:endParaRPr/>
          </a:p>
        </p:txBody>
      </p:sp>
      <p:pic>
        <p:nvPicPr>
          <p:cNvPr id="4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09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5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备份 B1 · 被问「有没有人做过」时翻此页&lt;/Text&gt;&#10;        &lt;Text style={{ fontSize: 30, fontWeight: 'bold', color: '#16181D', lineHeight: 1.25 }}&gt;竞品能力矩阵详表&lt;/Text&gt;&#10;    &lt;/Box&gt;&#10;&#10;    {/* B 内容区 */}&#10;    &lt;Box style={{ height: '540px', flexDirection: 'row', gap: '22px' }}&gt;&#10;        {/* 左 30%：三条结论 */}&#10;        &lt;Box style={{ width: '330px', flexDirection: 'column', gap: '10px' }}&gt;&#10;            &lt;Box style={{ flex: 1, background: '#F5F7FB', border: '1px solid #E5E8EF', borderRadius: '10px', padding: '12px 14px', flexDirection: 'column', gap: '4px', justifyContent: 'center' }}&gt;&#10;                &lt;Box style={{ flexDirection: 'row', alignItems: 'center', gap: '6px' }}&gt;&#10;                    &lt;Text style={{ fontSize: 13, fontWeight: 'bold', fontFamily: '&quot;Inter&quot;, &quot;Noto Sans SC&quot;, sans-serif', color: '#2456E6' }}&gt;01&lt;/Text&gt;&#10;                    &lt;Text style={{ fontSize: 15, fontWeight: 'bold', color: '#16181D' }}&gt;「记住」是行业天花板&lt;/Text&gt;&#10;                &lt;/Box&gt;&#10;                &lt;Text style={{ fontSize: 13, color: '#5C6470', lineHeight: 1.45 }}&gt;手机厂商止于记车位，管理平台有真值不做推荐&lt;/Text&gt;&#10;            &lt;/Box&gt;&#10;            &lt;Box style={{ flex: 1, background: '#F5F7FB', border: '1px solid #E5E8EF', borderRadius: '10px', padding: '12px 14px', flexDirection: 'column', gap: '4px', justifyContent: 'center' }}&gt;&#10;                &lt;Box style={{ flexDirection: 'row', alignItems: 'center', gap: '6px' }}&gt;&#10;                    &lt;Text style={{ fontSize: 13, fontWeight: 'bold', fontFamily: '&quot;Inter&quot;, &quot;Noto Sans SC&quot;, sans-serif', color: '#2456E6' }}&gt;02&lt;/Text&gt;&#10;                    &lt;Text style={{ fontSize: 15, fontWeight: 'bold', color: '#16181D' }}&gt;无人覆盖停车前决策&lt;/Text&gt;&#10;                &lt;/Box&gt;&#10;                &lt;Text style={{ fontSize: 13, color: '#5C6470', lineHeight: 1.45 }}&gt;充电平台只管桩不管路；四类玩家均无「选车位」&lt;/Text&gt;&#10;            &lt;/Box&gt;&#10;            &lt;Box style={{ flex: 1, background: 'rgba(15,169,88,0.10)', border: '1px solid rgba(15,169,88,0.35)', borderRadius: '10px', padding: '12px 14px', flexDirection: 'column', gap: '4px', justifyContent: 'center' }}&gt;&#10;                &lt;Box style={{ flexDirection: 'row', alignItems: 'center', gap: '6px' }}&gt;&#10;                    &lt;Text style={{ fontSize: 13, fontWeight: 'bold', fontFamily: '&quot;Inter&quot;, &quot;Noto Sans SC&quot;, sans-serif', color: '#0FA958' }}&gt;03&lt;/Text&gt;&#10;                    &lt;Text style={{ fontSize: 15, fontWeight: 'bold', color: '#16181D' }}&gt;差距即空间&lt;/Text&gt;&#10;                &lt;/Box&gt;&#10;                &lt;Text style={{ fontSize: 13, color: '#5C6470', lineHeight: 1.45 }}&gt;主办方数据最全却缺决策层；车记得三项全 ✔ 且复用真值&lt;/Text&gt;&#10;            &lt;/Box&gt;&#10;        &lt;/Box&gt;&#10;&#10;        {/* 右 70%：矩阵表 + 判断条 */}&#10;        &lt;Box style={{ flex: 1, flexDirection: 'column', gap: '12px' }}&gt;&#10;            &lt;Box style={{ height: '440px' }}&gt;&#10;                &lt;Table&#10;                    style={{ width: '100%', height: '100%' }}&#10;                    defaultTextStyle={{ fontSize: 15, textAlign: 'center', color: '#16181D' }}&#10;                    defaultCellStyle={{&#10;                        border: {&#10;                            left: { width: 1, color: '#E5E8EF' },&#10;                            right: { width: 1, color: '#E5E8EF' },&#10;                            top: { width: 1, color: '#E5E8EF' },&#10;                            bottom: { width: 1, color: '#E5E8EF' },&#10;                        },&#10;                    }}&#10;                    cells={[&#10;                        [&#10;                            { text: '玩家 ＼ 能力', textStyle: { bold: true, color: '#FFFFFF', fontSize: 14 }, cellStyle: { background: { color: '#2456E6' } } },&#10;                            { text: '跨场数据', textStyle: { bold: true, color: '#FFFFFF', fontSize: 14 }, cellStyle: { background: { color: '#2456E6' } } },&#10;                            { text: '车位真值', textStyle: { bold: true, color: '#FFFFFF', fontSize: 14 }, cellStyle: { background: { color: '#2456E6' } } },&#10;                            { text: '目的地选车位', textStyle: { bold: true, color: '#FFFFFF', fontSize: 14 }, cellStyle: { background: { color: '#2456E6' } } },&#10;                            { text: '垂直交通决策', textStyle: { bold: true, color: '#FFFFFF', fontSize: 14 }, cellStyle: { background: { color: '#2456E6' } } },&#10;                            { text: '空桩导航', textStyle: { bold: true, color: '#FFFFFF', fontSize: 14 }, cellStyle: { background: { color: '#2456E6' } } },&#10;                        ],&#10;                        [&#10;                            { text: 'ETCP 等管理平台', textStyle: { bold: true, fontSize: 14 }, cellStyle: { background: { color: '#F5F7FB' } } },&#10;                            '—', '✔', '✘', '✘', '✘',&#10;                        ],&#10;                        [&#10;                            { text: '手机厂商地图', textStyle: { bold: true, fontSize: 14 }, cellStyle: { background: { color: '#F5F7FB' } } },&#10;                            '✔', '✘', '✘', '✘', '✘',&#10;                        ],&#10;                        [&#10;                            { text: '充电平台', textStyle: { bold: true, fontSize: 14 }, cellStyle: { background: { color: '#F5F7FB' } } },&#10;                            '✘', '✘', '✘', '✘', '✔',&#10;                        ],&#10;                        [&#10;                            { text: '主办方现有系统', textStyle: { bold: true, fontSize: 14 }, cellStyle: { background: { color: '#F5F7FB' } } },&#10;                            '✔', '✔', '✘', '✘', '✘',&#10;                        ],&#10;                        [&#10;                            { text: '车记得 · 决策层', textStyle: { bold: true, fontSize: 14, color: '#0FA958' }, cellStyle: { background: { color: 'rgba(15,169,88,0.10)' } } },&#10;                            { text: '△ 规划', textStyle: { color: '#F5A623', fontSize: 13 }, cellStyle: { background: { color: 'rgba(15,169,88,0.10)' } } },&#10;                            { text: '✔ 复用', textStyle: { color: '#0FA958', bold: true }, cellStyle: { background: { color: 'rgba(15,169,88,0.10)' } } },&#10;                            { text: '✔', textStyle: { color: '#0FA958', bold: true, fontSize: 17 }, cellStyle: { background: { color: 'rgba(15,169,88,0.10)' } } },&#10;                            { text: '✔', textStyle: { color: '#0FA958', bold: true, fontSize: 17 }, cellStyle: { background: { color: 'rgba(15,169,88,0.10)' } } },&#10;                            { text: '✔', textStyle: { color: '#0FA958', bold: true, fontSize: 17 }, cellStyle: { background: { color: 'rgba(15,169,88,0.10)' } } },&#10;                        ],&#10;                    ]}&#10;                /&gt;&#10;            &lt;/Box&gt;&#10;            {/* 判断条 */}&#10;            &lt;Box style={{ flex: 1, flexDirection: 'row', alignItems: 'center', gap: '10px', background: '#F5F7FB', border: '1px solid #E5E8EF', borderLeft: '3px solid #2456E6', borderRadius: '8px', padding: '0 16px' }}&gt;&#10;                &lt;Text style={{ fontSize: 12, fontWeight: 600, color: '#5C6470', letterSpacing: 1 }}&gt;图例&lt;/Text&gt;&#10;                &lt;Text style={{ fontSize: 13, color: '#16181D' }}&gt;✔ 已有能力　✘ 不具备　△ 三期规划　— 不适用&lt;/Text&gt;&#10;                &lt;Text style={{ marginLeft: 'auto', fontSize: 15, fontWeight: 'bold', color: '#16181D' }}&gt;「记住」是天花板，不是终点——差距即空间。&lt;/Text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10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备份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B1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被问「有没有人做过」时翻此页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竞品能力矩阵详表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143000"/>
            <a:ext cx="3143250" cy="1581150"/>
          </a:xfrm>
          <a:prstGeom prst="roundRect">
            <a:avLst>
              <a:gd name="adj" fmla="val 6024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42950" y="1733550"/>
            <a:ext cx="133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3450" y="17240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「记住」是行业天花板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42950" y="1933575"/>
            <a:ext cx="2876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手机厂商止于记车位，管理平台有真值不做推荐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09600" y="2819400"/>
            <a:ext cx="3143250" cy="1571625"/>
          </a:xfrm>
          <a:prstGeom prst="roundRect">
            <a:avLst>
              <a:gd name="adj" fmla="val 6061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42950" y="3400425"/>
            <a:ext cx="133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33450" y="33909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无人覆盖停车前决策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42950" y="3600450"/>
            <a:ext cx="2876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充电平台只管桩不管路；四类玩家均无「选车位」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09600" y="4486275"/>
            <a:ext cx="3143250" cy="1800225"/>
          </a:xfrm>
          <a:prstGeom prst="roundRect">
            <a:avLst>
              <a:gd name="adj" fmla="val 5291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2950" y="5076825"/>
            <a:ext cx="133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A958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33450" y="50673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差距即空间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42950" y="5276850"/>
            <a:ext cx="28765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主办方数据最全却缺决策层；车记得三项全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✔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且复用真值</a:t>
            </a:r>
            <a:endParaRPr/>
          </a:p>
        </p:txBody>
      </p:sp>
      <p:graphicFrame>
        <p:nvGraphicFramePr>
          <p:cNvPr id="31" name=""/>
          <p:cNvGraphicFramePr/>
          <p:nvPr/>
        </p:nvGraphicFramePr>
        <p:xfrm rot="0" flipH="0" flipV="0">
          <a:off x="3962400" y="1143000"/>
          <a:ext cx="7620000" cy="4191000"/>
        </p:xfrm>
        <a:graphic>
          <a:graphicData uri="http://schemas.openxmlformats.org/drawingml/2006/table">
            <a:tbl>
              <a:tblGrid>
                <a:gridCol w="1809674">
                  <a:extLst>
                    <a:ext uri="{9D8B030D-6E8A-4147-A177-3AD203B41FA5}">
                      <a16:colId val="1"/>
                    </a:ext>
                  </a:extLst>
                </a:gridCol>
                <a:gridCol w="992597">
                  <a:extLst>
                    <a:ext uri="{9D8B030D-6E8A-4147-A177-3AD203B41FA5}">
                      <a16:colId val="2"/>
                    </a:ext>
                  </a:extLst>
                </a:gridCol>
                <a:gridCol w="992597">
                  <a:extLst>
                    <a:ext uri="{9D8B030D-6E8A-4147-A177-3AD203B41FA5}">
                      <a16:colId val="3"/>
                    </a:ext>
                  </a:extLst>
                </a:gridCol>
                <a:gridCol w="1416267">
                  <a:extLst>
                    <a:ext uri="{9D8B030D-6E8A-4147-A177-3AD203B41FA5}">
                      <a16:colId val="4"/>
                    </a:ext>
                  </a:extLst>
                </a:gridCol>
                <a:gridCol w="1416267">
                  <a:extLst>
                    <a:ext uri="{9D8B030D-6E8A-4147-A177-3AD203B41FA5}">
                      <a16:colId val="5"/>
                    </a:ext>
                  </a:extLst>
                </a:gridCol>
                <a:gridCol w="99259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66933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玩家 ＼ 能力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跨场数据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车位真值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目的地选车位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垂直交通决策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空桩导航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912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ETCP 等管理平台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912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手机厂商地图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912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充电平台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912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主办方现有系统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568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A958"/>
                          </a:solidFill>
                          <a:latin typeface="Microsoft YaHei"/>
                          <a:ea typeface="Microsoft YaHei"/>
                        </a:rPr>
                        <a:t>车记得 · 决策层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A958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A623"/>
                          </a:solidFill>
                          <a:latin typeface="Microsoft YaHei"/>
                          <a:ea typeface="Microsoft YaHei"/>
                        </a:rPr>
                        <a:t>△ 规划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A958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A958"/>
                          </a:solidFill>
                          <a:latin typeface="Microsoft YaHei"/>
                          <a:ea typeface="Microsoft YaHei"/>
                        </a:rPr>
                        <a:t>✔ 复用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A958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FA958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A958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FA958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A958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FA958"/>
                          </a:solidFill>
                          <a:latin typeface="Microsoft YaHei"/>
                          <a:ea typeface="Microsoft YaHei"/>
                        </a:rPr>
                        <a:t>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A95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2" name=""/>
          <p:cNvSpPr/>
          <p:nvPr/>
        </p:nvSpPr>
        <p:spPr>
          <a:xfrm rot="0" flipH="0" flipV="0">
            <a:off x="3990975" y="5448300"/>
            <a:ext cx="7620000" cy="838200"/>
          </a:xfrm>
          <a:prstGeom prst="roundRect">
            <a:avLst>
              <a:gd name="adj" fmla="val 9091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3990975" y="5448300"/>
            <a:ext cx="7620000" cy="838200"/>
          </a:xfrm>
          <a:custGeom>
            <a:pathLst>
              <a:path w="800" h="8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3"/>
                </a:lnTo>
                <a:cubicBezTo>
                  <a:pt x="3" y="85"/>
                  <a:pt x="5" y="87"/>
                  <a:pt x="7" y="88"/>
                </a:cubicBezTo>
                <a:cubicBezTo>
                  <a:pt x="3" y="87"/>
                  <a:pt x="0" y="84"/>
                  <a:pt x="0" y="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456E6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143375" y="58007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5C6470"/>
                </a:solidFill>
                <a:latin typeface="Microsoft YaHei"/>
                <a:ea typeface="Microsoft YaHei"/>
              </a:rPr>
              <a:t>图例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86275" y="5791200"/>
            <a:ext cx="2714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✔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已有能力　✘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不具备　△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三期规划　—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不适用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401050" y="5781675"/>
            <a:ext cx="302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「记住」是天花板，不是终点——差距即空间。</a:t>
            </a:r>
            <a:endParaRPr/>
          </a:p>
        </p:txBody>
      </p:sp>
      <p:pic>
        <p:nvPicPr>
          <p:cNvPr id="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10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备份 B2 · 被问技术深度时翻此页&lt;/Text&gt;&#10;        &lt;Text style={{ fontSize: 30, fontWeight: 'bold', color: '#16181D', lineHeight: 1.25 }}&gt;技术架构与降级链&lt;/Text&gt;&#10;    &lt;/Box&gt;&#10;&#10;    {/* B 内容区 */}&#10;    &lt;Box style={{ height: '540px', flexDirection: 'column', gap: '12px' }}&gt;&#10;        {/* 引导句 */}&#10;        &lt;Text style={{ fontSize: 19, color: '#5C6470', lineHeight: 1.5 }}&gt;决策服务层以云函数挂载在主办方小程序上，对已有系统只读、复用，不做任何改动。&lt;/Text&gt;&#10;&#10;        {/* 架构图（三层 + 边界标注） */}&#10;        &lt;Box style={{ height: '248px', flexDirection: 'column', gap: '5px' }}&gt;&#10;            {/* 顶层：主办方已有小程序 */}&#10;            &lt;Box style={{ height: '46px', flexDirection: 'row', alignItems: 'center', background: '#F5F7FB', border: '1px solid #E5E8EF', borderRadius: '8px', padding: '0 16px', gap: '10px' }}&gt;&#10;                &lt;Text style={{ fontSize: 16, fontWeight: 'bold', color: '#16181D' }}&gt;主办方已有小程序（用户侧入口）&lt;/Text&gt;&#10;                &lt;Box style={{ marginLeft: 'auto', background: 'rgba(245,166,35,0.12)', border: '1px solid #F5A623', borderRadius: '4px', padding: '2px 8px' }}&gt;&#10;                    &lt;Text style={{ fontSize: 12, fontWeight: 600, color: '#F5A623' }}&gt;只读&lt;/Text&gt;&#10;                &lt;/Box&gt;&#10;            &lt;/Box&gt;&#10;            {/* 连接标注 1 */}&#10;            &lt;Box style={{ height: '22px', flexDirection: 'row', alignItems: 'center', justifyContent: 'center', gap: '8px' }}&gt;&#10;                &lt;FAIcon name='exchange' style={{ fill: '#5C6470', width: '13px', height: '13px' }} /&gt;&#10;                &lt;Text style={{ fontSize: 12, color: '#5C6470' }}&gt;只读接口：车位真值 / POI / 实时状态——不写回、不改动&lt;/Text&gt;&#10;            &lt;/Box&gt;&#10;            {/* 中层：决策服务层 */}&#10;            &lt;Box style={{ height: '92px', flexDirection: 'column', background: '#2456E6', borderRadius: '8px', padding: '10px 16px', gap: '8px' }}&gt;&#10;                &lt;Box style={{ flexDirection: 'row', alignItems: 'center', gap: '10px' }}&gt;&#10;                    &lt;Text style={{ fontSize: 16, fontWeight: 'bold', color: '#FFFFFF' }}&gt;车记得 · 决策服务层&lt;/Text&gt;&#10;                    &lt;Text style={{ fontSize: 12, color: 'rgba(255,255,255,0.75)' }}&gt;云函数挂载 · 零硬件 · 零系统改造&lt;/Text&gt;&#10;                    &lt;Box style={{ marginLeft: 'auto', background: 'rgba(255,255,255,0.15)', borderRadius: '4px', padding: '2px 8px' }}&gt;&#10;                        &lt;Text style={{ fontSize: 12, fontWeight: 600, color: '#FFFFFF' }}&gt;本次唯一新建&lt;/Text&gt;&#10;                    &lt;/Box&gt;&#10;                &lt;/Box&gt;&#10;                &lt;Box style={{ flexDirection: 'row', gap: '10px', flex: 1 }}&gt;&#10;                    &lt;Box style={{ flex: 1, background: 'rgba(255,255,255,0.12)', borderRadius: '6px', justifyContent: 'center', alignItems: 'center' }}&gt;&#10;                        &lt;Text style={{ fontSize: 14, fontWeight: 600, color: '#FFFFFF' }}&gt;推荐引擎&lt;/Text&gt;&#10;                    &lt;/Box&gt;&#10;                    &lt;Box style={{ flex: 1, background: 'rgba(255,255,255,0.12)', borderRadius: '6px', justifyContent: 'center', alignItems: 'center' }}&gt;&#10;                        &lt;Text style={{ fontSize: 14, fontWeight: 600, color: '#FFFFFF' }}&gt;竖向路径图 · 多层 A*&lt;/Text&gt;&#10;                    &lt;/Box&gt;&#10;                    &lt;Box style={{ flex: 1, background: 'rgba(255,255,255,0.12)', borderRadius: '6px', justifyContent: 'center', alignItems: 'center' }}&gt;&#10;                        &lt;Text style={{ fontSize: 14, fontWeight: 600, color: '#FFFFFF' }}&gt;状态聚合器&lt;/Text&gt;&#10;                    &lt;/Box&gt;&#10;                &lt;/Box&gt;&#10;            &lt;/Box&gt;&#10;            {/* 连接标注 2 */}&#10;            &lt;Box style={{ height: '22px', flexDirection: 'row', alignItems: 'center', justifyContent: 'center', gap: '8px' }}&gt;&#10;                &lt;FAIcon name='exchange' style={{ fill: '#5C6470', width: '13px', height: '13px' }} /&gt;&#10;                &lt;Text style={{ fontSize: 12, color: '#5C6470' }}&gt;复用接口：地图 / 导航 / 车位真值 / 电梯厅标注——原样调用&lt;/Text&gt;&#10;            &lt;/Box&gt;&#10;            {/* 底层：已有能力 */}&#10;            &lt;Box style={{ height: '46px', flexDirection: 'row', alignItems: 'center', background: 'rgba(15,169,88,0.10)', border: '1px solid rgba(15,169,88,0.35)', borderRadius: '8px', padding: '0 16px', gap: '10px' }}&gt;&#10;                &lt;Text style={{ fontSize: 16, fontWeight: 'bold', color: '#16181D' }}&gt;主办方已有：2D/3D 地图 · 导航引擎 · 车位真值 · 电梯厅标注&lt;/Text&gt;&#10;                &lt;Box style={{ marginLeft: 'auto', background: 'rgba(15,169,88,0.10)', border: '1px solid rgba(15,169,88,0.35)', borderRadius: '4px', padding: '2px 8px' }}&gt;&#10;                    &lt;Text style={{ fontSize: 12, fontWeight: 600, color: '#0FA958' }}&gt;复用不改动&lt;/Text&gt;&#10;                &lt;/Box&gt;&#10;            &lt;/Box&gt;&#10;        &lt;/Box&gt;&#10;&#10;        {/* 新建主数据条 */}&#10;        &lt;Box style={{ flexDirection: 'row', alignItems: 'center', gap: '8px' }}&gt;&#10;            &lt;Box style={{ width: '3px', height: '14px', background: '#2456E6', borderRadius: '2px' }} /&gt;&#10;            &lt;Text style={{ fontSize: 13, color: '#5C6470', lineHeight: 1.4 }}&gt;新建主数据仅三张：POI / 竖向交通 / 车位-桩绑定——静态数据，可一次性内置小程序包，兼顾弱网。&lt;/Text&gt;&#10;        &lt;/Box&gt;&#10;&#10;        {/* 三降级链卡 */}&#10;        &lt;Box style={{ flex: 1, flexDirection: 'row', gap: '12px' }}&gt;&#10;            {/* 卡 ① */}&#10;            &lt;Box style={{ flex: 1, flexDirection: 'column', background: '#F5F7FB', border: '1px solid #E5E8EF', borderRadius: '10px', padding: '12px 14px', gap: '8px' }}&gt;&#10;                &lt;Box style={{ flexDirection: 'row', alignItems: 'center', gap: '8px' }}&gt;&#10;                    &lt;Text style={{ fontSize: 12, fontWeight: 600, color: '#2456E6' }}&gt;功能 ①&lt;/Text&gt;&#10;                    &lt;Text style={{ fontSize: 15, fontWeight: 'bold', color: '#16181D' }}&gt;目的地选车位&lt;/Text&gt;&#10;                    &lt;Text style={{ marginLeft: 'auto', fontSize: 11, color: '#5C6470', letterSpacing: 1 }}&gt;降级链&lt;/Text&gt;&#10;                &lt;/Box&gt;&#10;                &lt;Box style={{ flexDirection: 'column', gap: '4px' }}&gt;&#10;                    &lt;Text style={{ fontSize: 13, color: '#16181D', lineHeight: 1.45 }}&gt;同层近区 → 半径 +1 区 → 其他层 → 跨场 → 全满提示&lt;/Text&gt;&#10;                &lt;/Box&gt;&#10;                &lt;Box style={{ marginTop: 'auto', background: '#FFFFFF', border: '1px solid #E5E8EF', borderRadius: '6px', padding: '6px 10px' }}&gt;&#10;                    &lt;Text style={{ fontSize: 12, color: '#5C6470', lineHeight: 1.4 }}&gt;任一步不可用即顺降，永不返回空结果&lt;/Text&gt;&#10;                &lt;/Box&gt;&#10;            &lt;/Box&gt;&#10;            {/* 卡 ② */}&#10;            &lt;Box style={{ flex: 1, flexDirection: 'column', background: '#F5F7FB', border: '1px solid #E5E8EF', borderRadius: '10px', padding: '12px 14px', gap: '8px' }}&gt;&#10;                &lt;Box style={{ flexDirection: 'row', alignItems: 'center', gap: '8px' }}&gt;&#10;                    &lt;Text style={{ fontSize: 12, fontWeight: 600, color: '#2456E6' }}&gt;功能 ②&lt;/Text&gt;&#10;                    &lt;Text style={{ fontSize: 15, fontWeight: 'bold', color: '#16181D' }}&gt;电梯厅选梯&lt;/Text&gt;&#10;                    &lt;Text style={{ marginLeft: 'auto', fontSize: 11, color: '#5C6470', letterSpacing: 1 }}&gt;降级链&lt;/Text&gt;&#10;                &lt;/Box&gt;&#10;                &lt;Box style={{ flexDirection: 'column', gap: '4px' }}&gt;&#10;                    &lt;Text style={{ fontSize: 13, color: '#16181D', lineHeight: 1.45 }}&gt;多层竖向图建图来不及 → 分段编排当天可用&lt;/Text&gt;&#10;                &lt;/Box&gt;&#10;                &lt;Box style={{ marginTop: 'auto', background: '#FFFFFF', border: '1px solid #E5E8EF', borderRadius: '6px', padding: '6px 10px' }}&gt;&#10;                    &lt;Text style={{ fontSize: 12, color: '#5C6470', lineHeight: 1.4 }}&gt;先按楼层给建议，多层图就绪后自动切换&lt;/Text&gt;&#10;                &lt;/Box&gt;&#10;            &lt;/Box&gt;&#10;            {/* 卡 ③ */}&#10;            &lt;Box style={{ flex: 1, flexDirection: 'column', background: '#F5F7FB', border: '1px solid #E5E8EF', borderRadius: '10px', padding: '12px 14px', gap: '8px' }}&gt;&#10;                &lt;Box style={{ flexDirection: 'row', alignItems: 'center', gap: '8px' }}&gt;&#10;                    &lt;Text style={{ fontSize: 12, fontWeight: 600, color: '#2456E6' }}&gt;功能 ③&lt;/Text&gt;&#10;                    &lt;Text style={{ fontSize: 15, fontWeight: 'bold', color: '#16181D' }}&gt;充电桩导航&lt;/Text&gt;&#10;                    &lt;Text style={{ marginLeft: 'auto', fontSize: 11, color: '#5C6470', letterSpacing: 1 }}&gt;降级链&lt;/Text&gt;&#10;                &lt;/Box&gt;&#10;                &lt;Box style={{ flexDirection: 'column', gap: '4px' }}&gt;&#10;                    &lt;Text style={{ fontSize: 13, color: '#16181D', lineHeight: 1.45 }}&gt;接口缺 → 三级来源 + 置信度衰减 exp(-τ/15min)&lt;/Text&gt;&#10;                &lt;/Box&gt;&#10;                &lt;Box style={{ marginTop: 'auto', background: '#FFFFFF', border: '1px solid #E5E8EF', borderRadius: '6px', padding: '6px 10px' }}&gt;&#10;                    &lt;Text style={{ fontSize: 12, color: '#5C6470', lineHeight: 1.4 }}&gt;状态不明时显式标注时效，不伪造「空闲」&lt;/Text&gt;&#10;                &lt;/Box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11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备份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B2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被问技术深度时翻此页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技术架构与降级链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5C6470"/>
                </a:solidFill>
                <a:latin typeface="Microsoft YaHei"/>
                <a:ea typeface="Microsoft YaHei"/>
              </a:rPr>
              <a:t>决策服务层以云函数挂载在主办方小程序上，对已有系统只读、复用，不做任何改动。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159067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主办方已有小程序（用户侧入口）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11049000" y="1724025"/>
            <a:ext cx="381000" cy="180975"/>
          </a:xfrm>
          <a:prstGeom prst="roundRect">
            <a:avLst>
              <a:gd name="adj" fmla="val 21053"/>
            </a:avLst>
          </a:prstGeom>
          <a:solidFill>
            <a:srgbClr val="F5A623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1743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A623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14850" y="2124075"/>
            <a:ext cx="123825" cy="123825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714875" y="211455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只读接口：车位真值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/ POI /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实时状态——不写回、不改动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2333625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62000" y="2428875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车记得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决策服务层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238375" y="245745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云函数挂载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零硬件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零系统改造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10591800" y="2438400"/>
            <a:ext cx="838200" cy="180975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668000" y="24574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本次唯一新建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62000" y="2695575"/>
            <a:ext cx="3495675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247900" y="28289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推荐引擎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352925" y="2695575"/>
            <a:ext cx="3486150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457825" y="2828925"/>
            <a:ext cx="127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竖向路径图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多层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A*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934325" y="2695575"/>
            <a:ext cx="3495675" cy="419100"/>
          </a:xfrm>
          <a:prstGeom prst="roundRect">
            <a:avLst>
              <a:gd name="adj" fmla="val 13636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353550" y="28289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状态聚合器</a:t>
            </a:r>
            <a:endParaRPr/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38650" y="3305175"/>
            <a:ext cx="123825" cy="123825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638675" y="32956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复用接口：地图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导航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车位真值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电梯厅标注——原样调用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351472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62000" y="3638550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主办方已有：</a:t>
            </a: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2D/3D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地图</a:t>
            </a: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导航引擎</a:t>
            </a: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车位真值</a:t>
            </a:r>
            <a:r>
              <a:rPr lang="en-US" sz="120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6181D"/>
                </a:solidFill>
                <a:latin typeface="Microsoft YaHei"/>
                <a:ea typeface="Microsoft YaHei"/>
              </a:rPr>
              <a:t>电梯厅标注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0706100" y="3648075"/>
            <a:ext cx="723900" cy="180975"/>
          </a:xfrm>
          <a:prstGeom prst="roundRect">
            <a:avLst>
              <a:gd name="adj" fmla="val 21053"/>
            </a:avLst>
          </a:prstGeom>
          <a:solidFill>
            <a:srgbClr val="0FA958">
              <a:alpha val="10000"/>
            </a:srgbClr>
          </a:solidFill>
          <a:ln w="12700">
            <a:solidFill>
              <a:srgbClr val="0FA95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782300" y="36671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A958"/>
                </a:solidFill>
                <a:latin typeface="Microsoft YaHei"/>
                <a:ea typeface="Microsoft YaHei"/>
              </a:rPr>
              <a:t>复用不改动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4105275"/>
            <a:ext cx="28575" cy="133350"/>
          </a:xfrm>
          <a:prstGeom prst="roundRect">
            <a:avLst>
              <a:gd name="adj" fmla="val 66667"/>
            </a:avLst>
          </a:prstGeom>
          <a:solidFill>
            <a:srgbClr val="2456E6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14375" y="4067175"/>
            <a:ext cx="5619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新建主数据仅三张：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POI /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竖向交通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车位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桩绑定——静态数据，可一次性内置小程序包，兼顾弱网。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09600" y="4391025"/>
            <a:ext cx="3581400" cy="1895475"/>
          </a:xfrm>
          <a:prstGeom prst="roundRect">
            <a:avLst>
              <a:gd name="adj" fmla="val 5025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2950" y="45243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456E6"/>
                </a:solidFill>
                <a:latin typeface="Microsoft YaHei"/>
                <a:ea typeface="Microsoft YaHei"/>
              </a:rPr>
              <a:t>功能</a:t>
            </a:r>
            <a:r>
              <a:rPr lang="en-US" sz="90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200150" y="45053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目的地选车位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714750" y="4524375"/>
            <a:ext cx="342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C6470"/>
                </a:solidFill>
                <a:latin typeface="Microsoft YaHei"/>
                <a:ea typeface="Microsoft YaHei"/>
              </a:rPr>
              <a:t>降级链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" y="4752975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同层近区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半径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+1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区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其他层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跨场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全满提示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42950" y="5857875"/>
            <a:ext cx="331470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8200" y="591502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任一步不可用即顺降，永不返回空结果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305300" y="4391025"/>
            <a:ext cx="3581400" cy="1895475"/>
          </a:xfrm>
          <a:prstGeom prst="roundRect">
            <a:avLst>
              <a:gd name="adj" fmla="val 5025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438650" y="45243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456E6"/>
                </a:solidFill>
                <a:latin typeface="Microsoft YaHei"/>
                <a:ea typeface="Microsoft YaHei"/>
              </a:rPr>
              <a:t>功能</a:t>
            </a:r>
            <a:r>
              <a:rPr lang="en-US" sz="90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895850" y="45053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电梯厅选梯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410450" y="4524375"/>
            <a:ext cx="342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C6470"/>
                </a:solidFill>
                <a:latin typeface="Microsoft YaHei"/>
                <a:ea typeface="Microsoft YaHei"/>
              </a:rPr>
              <a:t>降级链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38650" y="4752975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多层竖向图建图来不及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分段编排当天可用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4438650" y="5857875"/>
            <a:ext cx="331470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33900" y="591502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先按楼层给建议，多层图就绪后自动切换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001000" y="4391025"/>
            <a:ext cx="3581400" cy="1895475"/>
          </a:xfrm>
          <a:prstGeom prst="roundRect">
            <a:avLst>
              <a:gd name="adj" fmla="val 5025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134350" y="45243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456E6"/>
                </a:solidFill>
                <a:latin typeface="Microsoft YaHei"/>
                <a:ea typeface="Microsoft YaHei"/>
              </a:rPr>
              <a:t>功能</a:t>
            </a:r>
            <a:r>
              <a:rPr lang="en-US" sz="900" b="1">
                <a:solidFill>
                  <a:srgbClr val="2456E6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591550" y="45053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181D"/>
                </a:solidFill>
                <a:latin typeface="Microsoft YaHei"/>
                <a:ea typeface="Microsoft YaHei"/>
              </a:rPr>
              <a:t>充电桩导航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106150" y="4524375"/>
            <a:ext cx="342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C6470"/>
                </a:solidFill>
                <a:latin typeface="Microsoft YaHei"/>
                <a:ea typeface="Microsoft YaHei"/>
              </a:rPr>
              <a:t>降级链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134350" y="4752975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接口缺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三级来源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置信度衰减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exp(-τ/15min)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134350" y="5857875"/>
            <a:ext cx="331470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229600" y="591502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状态不明时显式标注时效，不伪造「空闲」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11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94" name="" descr="&lt;Slide style={{ width: '1280px', height: '720px', padding: '20px 64px', flexDirection: 'column', background: '#FFFFFF' }}&gt;&#10;    {/* A 标题块 */}&#10;    &lt;Box style={{ height: '100px', flexDirection: 'column', justifyContent: 'center', gap: '6px' }}&gt;&#10;        &lt;Text style={{ fontSize: 13, fontWeight: 600, color: '#2456E6', letterSpacing: 2 }}&gt;备份 B3 · 复赛提交「项目演示视频」用&lt;/Text&gt;&#10;        &lt;Text style={{ fontSize: 30, fontWeight: 'bold', color: '#16181D', lineHeight: 1.25 }}&gt;演示视频脚本（30–60 秒）&lt;/Text&gt;&#10;    &lt;/Box&gt;&#10;&#10;    {/* B 内容区 */}&#10;    &lt;Box style={{ height: '540px', flexDirection: 'row', gap: '22px' }}&gt;&#10;        {/* 左 28%：锚点 + 形式 + 判断 + 诚实标注 */}&#10;        &lt;Box style={{ width: '320px', flexDirection: 'column', gap: '12px' }}&gt;&#10;            &lt;Box style={{ flexDirection: 'column', gap: '2px' }}&gt;&#10;                &lt;Text style={{ fontSize: 48, fontWeight: 'bold', fontFamily: '&quot;Inter&quot;, &quot;Noto Sans SC&quot;, sans-serif', color: '#2456E6', lineHeight: 1 }}&gt;30–60s&lt;/Text&gt;&#10;                &lt;Text style={{ fontSize: 15, color: '#5C6470', lineHeight: 1.5 }}&gt;demo 录屏 + 字幕，无真人出镜；评委看页，点开即演&lt;/Text&gt;&#10;            &lt;/Box&gt;&#10;&#10;            {/* 判断条 */}&#10;            &lt;Box style={{ background: '#F5F7FB', border: '1px solid #E5E8EF', borderLeft: '3px solid #2456E6', borderRadius: '8px', padding: '10px 12px' }}&gt;&#10;                &lt;Text style={{ fontSize: 13, color: '#16181D', lineHeight: 1.5 }}&gt;视频与 PPT 互为印证：PPT 讲清判断，视频证明当场能演。&lt;/Text&gt;&#10;            &lt;/Box&gt;&#10;&#10;            {/* 诚实标注（与 P6 同口径） */}&#10;            &lt;Box style={{ marginTop: 'auto', background: '#F5F7FB', border: '1px solid #E5E8EF', borderRadius: '8px', padding: '10px 12px', gap: '6px', flexDirection: 'column' }}&gt;&#10;                &lt;Box style={{ flexDirection: 'row', alignItems: 'center', gap: '6px' }}&gt;&#10;                    &lt;Box style={{ width: '3px', height: '13px', background: '#F5A623', borderRadius: '2px' }} /&gt;&#10;                    &lt;Text style={{ fontSize: 12, fontWeight: 600, color: '#F5A623', letterSpacing: 1 }}&gt;诚实标注&lt;/Text&gt;&#10;                &lt;/Box&gt;&#10;                &lt;Text style={{ fontSize: 12, color: '#5C6470', lineHeight: 1.5 }}&gt;与 P6 同口径：当前 AI 解析为关键词模拟，真实链路接入多模态大模型 API；演示车位、桩数为模拟数据，非实测。&lt;/Text&gt;&#10;            &lt;/Box&gt;&#10;        &lt;/Box&gt;&#10;&#10;        {/* 右 72%：六+1 段时间码表 */}&#10;        &lt;Box style={{ flex: 1, flexDirection: 'column' }}&gt;&#10;            &lt;Box style={{ flex: 1 }}&gt;&#10;                &lt;Table&#10;                    style={{ width: '100%', height: '100%' }}&#10;                    defaultTextStyle={{ fontSize: 14, textAlign: 'left', color: '#16181D' }}&#10;                    defaultCellStyle={{&#10;                        border: {&#10;                            left: { width: 1, color: '#E5E8EF' },&#10;                            right: { width: 1, color: '#E5E8EF' },&#10;                            top: { width: 1, color: '#E5E8EF' },&#10;                            bottom: { width: 1, color: '#E5E8EF' },&#10;                        },&#10;                    }}&#10;                    cells={[&#10;                        [&#10;                            { text: '时间码', textStyle: { bold: true, color: '#FFFFFF', fontSize: 13 }, cellStyle: { background: { color: '#2456E6' } } },&#10;                            { text: '画面', textStyle: { bold: true, color: '#FFFFFF', fontSize: 13 }, cellStyle: { background: { color: '#2456E6' } } },&#10;                            { text: '字幕 / 台词', textStyle: { bold: true, color: '#FFFFFF', fontSize: 13 }, cellStyle: { background: { color: '#2456E6' } } },&#10;                        ],&#10;                        [&#10;                            { text: '0–5s', textStyle: { bold: true, color: '#2456E6', fontSize: 14 }, cellStyle: { background: { color: '#F5F7FB' } } },&#10;                            '首页 AI 入口卡入镜',&#10;                            { text: '「系统已经很完整，但它不替你做选择」', textStyle: { color: '#16181D' } },&#10;                        ],&#10;                        [&#10;                            { text: '5–15s', textStyle: { bold: true, color: '#2456E6', fontSize: 14 }, cellStyle: { background: { color: '#F5F7FB' } } },&#10;                            '进入目的地选择页，AI 横幅出现',&#10;                            { text: '「补一层决策服务」', textStyle: { color: '#16181D' } },&#10;                        ],&#10;                        [&#10;                            { text: '15–25s', textStyle: { bold: true, color: '#2456E6', fontSize: 14 }, cellStyle: { background: { color: '#F5F7FB' } } },&#10;                            '输入「去海底捞，要充电」，点示例让 AI 解析',&#10;                            { text: '「和 AI 说一句就行」', textStyle: { color: '#16181D' } },&#10;                        ],&#10;                        [&#10;                            { text: '25–35s', textStyle: { bold: true, color: '#2456E6', fontSize: 14 }, cellStyle: { background: { color: '#F5F7FB' } } },&#10;                            '三步流水线动画 + 约束卡',&#10;                            { text: '「意图解析 → 约束结构化 → 推荐引擎」', textStyle: { color: '#16181D' } },&#10;                        ],&#10;                        [&#10;                            { text: '35–45s', textStyle: { bold: true, color: '#2456E6', fontSize: 14 }, cellStyle: { background: { color: '#F5F7FB' } } },&#10;                            '推荐卡：车位编号 + 推荐理由 + AI 约束已应用',&#10;                            { text: '「为什么是这个车位」', textStyle: { color: '#16181D' } },&#10;                        ],&#10;                        [&#10;                            { text: '45–55s', textStyle: { bold: true, color: '#2456E6', fontSize: 14 }, cellStyle: { background: { color: '#F5F7FB' } } },&#10;                            '点「导航到此车位」，复用已有模拟导航',&#10;                            { text: '「零硬件、零改造」', textStyle: { color: '#16181D' } },&#10;                        ],&#10;                        [&#10;                            { text: '55–60s', textStyle: { bold: true, color: '#2456E6', fontSize: 14 }, cellStyle: { background: { color: '#F5F7FB' } } },&#10;                            '黑场 + slogan 落版',&#10;                            { text: '「让已有的能力真正被用起来，而不是再盖一栋楼」', textStyle: { color: '#F5A623', bold: true } },&#10;                        ],&#10;                    ]}&#10;                /&gt;&#10;            &lt;/Box&gt;&#10;        &lt;/Box&gt;&#10;    &lt;/Box&gt;&#10;&#10;    {/* C 页脚条 */}&#10;    &lt;Box style={{ height: '40px', flexDirection: 'row', alignItems: 'center', justifyContent: 'space-between' }}&gt;&#10;        &lt;Box style={{ flexDirection: 'row', alignItems: 'center', gap: '8px' }}&gt;&#10;            &lt;FAIcon name='car' style={{ fill: '#2456E6', width: '18px', height: '18px' }} /&gt;&#10;            &lt;Text style={{ fontSize: 13, color: '#5C6470' }}&gt;车记得 · 完美金鹰假日商圈 AI 大赛&lt;/Text&gt;&#10;        &lt;/Box&gt;&#10;        &lt;Text style={{ fontSize: 13, color: '#5C6470' }}&gt;&lt;span style={{ fontWeight: 'bold', color: '#2456E6' }}&gt;12&lt;/span&gt;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备份</a:t>
            </a:r>
            <a:r>
              <a:rPr lang="en-US" sz="975" b="1" spc="150">
                <a:solidFill>
                  <a:srgbClr val="2456E6"/>
                </a:solidFill>
                <a:latin typeface="Microsoft YaHei"/>
                <a:ea typeface="Microsoft YaHei"/>
              </a:rPr>
              <a:t xml:space="preserve"> B3 · </a:t>
            </a:r>
            <a:r>
              <a:rPr lang="zh-CN" sz="975" b="1" spc="150">
                <a:solidFill>
                  <a:srgbClr val="2456E6"/>
                </a:solidFill>
                <a:latin typeface="Microsoft YaHei"/>
                <a:ea typeface="Microsoft YaHei"/>
              </a:rPr>
              <a:t>复赛提交「项目演示视频」用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演示视频脚本（</a:t>
            </a:r>
            <a:r>
              <a:rPr lang="en-US" sz="2250" b="1">
                <a:solidFill>
                  <a:srgbClr val="16181D"/>
                </a:solidFill>
                <a:latin typeface="Microsoft YaHei"/>
                <a:ea typeface="Microsoft YaHei"/>
              </a:rPr>
              <a:t xml:space="preserve">30–60 </a:t>
            </a:r>
            <a:r>
              <a:rPr lang="zh-CN" sz="2250" b="1">
                <a:solidFill>
                  <a:srgbClr val="16181D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3048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456E6"/>
                </a:solidFill>
                <a:latin typeface="Inter"/>
                <a:ea typeface="Inter"/>
              </a:rPr>
              <a:t>30–60s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304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C6470"/>
                </a:solidFill>
                <a:latin typeface="Microsoft YaHei"/>
                <a:ea typeface="Microsoft YaHei"/>
              </a:rPr>
              <a:t xml:space="preserve">demo </a:t>
            </a:r>
            <a:r>
              <a:rPr lang="zh-CN" sz="1125">
                <a:solidFill>
                  <a:srgbClr val="5C6470"/>
                </a:solidFill>
                <a:latin typeface="Microsoft YaHei"/>
                <a:ea typeface="Microsoft YaHei"/>
              </a:rPr>
              <a:t>录屏</a:t>
            </a:r>
            <a:r>
              <a:rPr lang="en-US" sz="1125">
                <a:solidFill>
                  <a:srgbClr val="5C64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5C6470"/>
                </a:solidFill>
                <a:latin typeface="Microsoft YaHei"/>
                <a:ea typeface="Microsoft YaHei"/>
              </a:rPr>
              <a:t>字幕，无真人出镜；评委看页，点开即演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38175" y="2343150"/>
            <a:ext cx="3048000" cy="638175"/>
          </a:xfrm>
          <a:prstGeom prst="roundRect">
            <a:avLst>
              <a:gd name="adj" fmla="val 11940"/>
            </a:avLst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38175" y="2343150"/>
            <a:ext cx="3048000" cy="638175"/>
          </a:xfrm>
          <a:custGeom>
            <a:pathLst>
              <a:path w="320" h="6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2"/>
                </a:lnTo>
                <a:cubicBezTo>
                  <a:pt x="3" y="64"/>
                  <a:pt x="5" y="66"/>
                  <a:pt x="7" y="67"/>
                </a:cubicBezTo>
                <a:cubicBezTo>
                  <a:pt x="3" y="66"/>
                  <a:pt x="0" y="63"/>
                  <a:pt x="0" y="5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456E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52475" y="2438400"/>
            <a:ext cx="27908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视频与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互为印证：</a:t>
            </a:r>
            <a:r>
              <a:rPr lang="en-US" sz="975">
                <a:solidFill>
                  <a:srgbClr val="16181D"/>
                </a:solidFill>
                <a:latin typeface="Microsoft YaHei"/>
                <a:ea typeface="Microsoft YaHei"/>
              </a:rPr>
              <a:t xml:space="preserve">PPT </a:t>
            </a:r>
            <a:r>
              <a:rPr lang="zh-CN" sz="975">
                <a:solidFill>
                  <a:srgbClr val="16181D"/>
                </a:solidFill>
                <a:latin typeface="Microsoft YaHei"/>
                <a:ea typeface="Microsoft YaHei"/>
              </a:rPr>
              <a:t>讲清判断，视频证明当场能演。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5276850"/>
            <a:ext cx="3048000" cy="1009650"/>
          </a:xfrm>
          <a:prstGeom prst="roundRect">
            <a:avLst>
              <a:gd name="adj" fmla="val 7547"/>
            </a:avLst>
          </a:prstGeom>
          <a:solidFill>
            <a:srgbClr val="F5F7FB"/>
          </a:solidFill>
          <a:ln w="12700">
            <a:solidFill>
              <a:srgbClr val="E5E8EF"/>
            </a:solidFill>
            <a:prstDash val="solid"/>
          </a:ln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723900" y="5381625"/>
            <a:ext cx="28575" cy="123825"/>
          </a:xfrm>
          <a:prstGeom prst="roundRect">
            <a:avLst>
              <a:gd name="adj" fmla="val 6666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9625" y="53721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F5A623"/>
                </a:solidFill>
                <a:latin typeface="Microsoft YaHei"/>
                <a:ea typeface="Microsoft YaHei"/>
              </a:rPr>
              <a:t>诚实标注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23900" y="5572125"/>
            <a:ext cx="2819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P6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同口径：当前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解析为关键词模拟，真实链路接入多模态大模型</a:t>
            </a:r>
            <a:r>
              <a:rPr lang="en-US" sz="900">
                <a:solidFill>
                  <a:srgbClr val="5C6470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900">
                <a:solidFill>
                  <a:srgbClr val="5C6470"/>
                </a:solidFill>
                <a:latin typeface="Microsoft YaHei"/>
                <a:ea typeface="Microsoft YaHei"/>
              </a:rPr>
              <a:t>；演示车位、桩数为模拟数据，非实测。</a:t>
            </a:r>
            <a:endParaRPr/>
          </a:p>
        </p:txBody>
      </p:sp>
      <p:graphicFrame>
        <p:nvGraphicFramePr>
          <p:cNvPr id="107" name=""/>
          <p:cNvGraphicFramePr/>
          <p:nvPr/>
        </p:nvGraphicFramePr>
        <p:xfrm rot="0" flipH="0" flipV="0">
          <a:off x="3867150" y="1143000"/>
          <a:ext cx="7715250" cy="5143500"/>
        </p:xfrm>
        <a:graphic>
          <a:graphicData uri="http://schemas.openxmlformats.org/drawingml/2006/table">
            <a:tbl>
              <a:tblGrid>
                <a:gridCol w="661815">
                  <a:extLst>
                    <a:ext uri="{9D8B030D-6E8A-4147-A177-3AD203B41FA5}">
                      <a16:colId val="1"/>
                    </a:ext>
                  </a:extLst>
                </a:gridCol>
                <a:gridCol w="3371258">
                  <a:extLst>
                    <a:ext uri="{9D8B030D-6E8A-4147-A177-3AD203B41FA5}">
                      <a16:colId val="2"/>
                    </a:ext>
                  </a:extLst>
                </a:gridCol>
                <a:gridCol w="368217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0586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画面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字幕 / 台词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56E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0–5s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首页 AI 入口卡入镜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「系统已经很完整，但它不替你做选择」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5–15s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进入目的地选择页，AI 横幅出现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「补一层决策服务」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15–25s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输入「去海底捞，要充电」，点示例让 AI 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「和 AI 说一句就行」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25–35s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三步流水线动画 + 约束卡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「意图解析 → 约束结构化 → 推荐引擎」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35–45s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推荐卡：车位编号 + 推荐理由 + AI 约束已应用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「为什么是这个车位」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45–55s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点「导航到此车位」，复用已有模拟导航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「零硬件、零改造」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64823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456E6"/>
                          </a:solidFill>
                          <a:latin typeface="Microsoft YaHei"/>
                          <a:ea typeface="Microsoft YaHei"/>
                        </a:rPr>
                        <a:t>55–60s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6181D"/>
                          </a:solidFill>
                          <a:latin typeface="Microsoft YaHei"/>
                          <a:ea typeface="Microsoft YaHei"/>
                        </a:rPr>
                        <a:t>黑场 + slogan 落版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A623"/>
                          </a:solidFill>
                          <a:latin typeface="Microsoft YaHei"/>
                          <a:ea typeface="Microsoft YaHei"/>
                        </a:rPr>
                        <a:t>「让已有的能力真正被用起来，而不是再盖一栋楼」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6391275"/>
            <a:ext cx="171450" cy="171450"/>
          </a:xfrm>
          <a:prstGeom prst="rect">
            <a:avLst/>
          </a:prstGeom>
          <a:ln/>
        </p:spPr>
      </p:pic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57250" y="64008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车记得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完美金鹰假日商圈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5C6470"/>
                </a:solidFill>
                <a:latin typeface="Microsoft YaHei"/>
                <a:ea typeface="Microsoft YaHei"/>
              </a:rPr>
              <a:t>大赛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456E6"/>
                </a:solidFill>
                <a:latin typeface="Microsoft YaHei"/>
                <a:ea typeface="Microsoft YaHei"/>
              </a:rPr>
              <a:t>12</a:t>
            </a:r>
            <a:r>
              <a:rPr lang="en-US" sz="975">
                <a:solidFill>
                  <a:srgbClr val="5C6470"/>
                </a:solidFill>
                <a:latin typeface="Microsoft YaHei"/>
                <a:ea typeface="Microsoft YaHei"/>
              </a:rPr>
              <a:t xml:space="preserve">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2026-10-15T03:28:51Z</dcterms:created>
  <dcterms:modified xsi:type="dcterms:W3CDTF">2026-10-15T03:28:51Z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{"AIGC":{"Label":"1","ContentProducer":"00119111010856365494821B355","ProduceID":"01a13bbcd9327265ba30ea04190dbedb","ReservedCode1":"","ContentPropagator":"00119111010856365494821B355","PropagateID":"01a13bbcd9327265ba30ea04190dbedb","ReservedCode2":""}}</vt:lpwstr>
  </property>
</Properties>
</file>